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4" r:id="rId7"/>
    <p:sldId id="265" r:id="rId8"/>
    <p:sldId id="266" r:id="rId9"/>
    <p:sldId id="290" r:id="rId10"/>
    <p:sldId id="289"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91" r:id="rId32"/>
    <p:sldId id="293" r:id="rId33"/>
    <p:sldId id="294" r:id="rId34"/>
    <p:sldId id="295" r:id="rId35"/>
    <p:sldId id="296" r:id="rId36"/>
    <p:sldId id="287"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B134"/>
    <a:srgbClr val="A51B7E"/>
    <a:srgbClr val="6C4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124200"/>
            <a:ext cx="6477000" cy="1914144"/>
          </a:xfrm>
        </p:spPr>
        <p:txBody>
          <a:bodyPr vert="horz" lIns="45720" tIns="0" rIns="45720" bIns="0" rtlCol="0" anchor="b" anchorCtr="0">
            <a:noAutofit/>
          </a:bodyPr>
          <a:lstStyle>
            <a:lvl1pPr algn="l" defTabSz="914400" rtl="0" eaLnBrk="1" latinLnBrk="0" hangingPunct="1">
              <a:lnSpc>
                <a:spcPts val="5000"/>
              </a:lnSpc>
              <a:spcBef>
                <a:spcPct val="0"/>
              </a:spcBef>
              <a:buNone/>
              <a:defRPr sz="4600" kern="1200">
                <a:solidFill>
                  <a:schemeClr val="tx1"/>
                </a:solidFill>
                <a:latin typeface="+mj-lt"/>
                <a:ea typeface="+mj-ea"/>
                <a:cs typeface="+mj-cs"/>
              </a:defRPr>
            </a:lvl1pPr>
          </a:lstStyle>
          <a:p>
            <a:r>
              <a:rPr lang="fr-FR" smtClean="0"/>
              <a:t>Cliquez et modifiez le titre</a:t>
            </a:r>
            <a:endParaRPr/>
          </a:p>
        </p:txBody>
      </p:sp>
      <p:sp>
        <p:nvSpPr>
          <p:cNvPr id="3" name="Subtitle 2"/>
          <p:cNvSpPr>
            <a:spLocks noGrp="1"/>
          </p:cNvSpPr>
          <p:nvPr>
            <p:ph type="subTitle" idx="1"/>
          </p:nvPr>
        </p:nvSpPr>
        <p:spPr>
          <a:xfrm>
            <a:off x="2209800" y="5056632"/>
            <a:ext cx="6477000" cy="1174088"/>
          </a:xfrm>
        </p:spPr>
        <p:txBody>
          <a:bodyPr vert="horz" lIns="91440" tIns="0" rIns="45720" bIns="0" rtlCol="0">
            <a:normAutofit/>
          </a:bodyPr>
          <a:lstStyle>
            <a:lvl1pPr marL="0" indent="0" algn="l" defTabSz="914400" rtl="0" eaLnBrk="1" latinLnBrk="0" hangingPunct="1">
              <a:lnSpc>
                <a:spcPts val="2600"/>
              </a:lnSpc>
              <a:spcBef>
                <a:spcPts val="0"/>
              </a:spcBef>
              <a:buSzPct val="90000"/>
              <a:buFontTx/>
              <a:buNone/>
              <a:defRPr sz="2200" kern="120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a:p>
        </p:txBody>
      </p:sp>
      <p:sp>
        <p:nvSpPr>
          <p:cNvPr id="4" name="Date Placeholder 3"/>
          <p:cNvSpPr>
            <a:spLocks noGrp="1"/>
          </p:cNvSpPr>
          <p:nvPr>
            <p:ph type="dt" sz="half" idx="10"/>
          </p:nvPr>
        </p:nvSpPr>
        <p:spPr>
          <a:xfrm>
            <a:off x="457200" y="6300216"/>
            <a:ext cx="19842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a:xfrm>
            <a:off x="3959352" y="6300216"/>
            <a:ext cx="38130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endParaRPr lang="en-US" dirty="0"/>
          </a:p>
        </p:txBody>
      </p:sp>
      <p:sp>
        <p:nvSpPr>
          <p:cNvPr id="6" name="Slide Number Placeholder 5"/>
          <p:cNvSpPr>
            <a:spLocks noGrp="1"/>
          </p:cNvSpPr>
          <p:nvPr>
            <p:ph type="sldNum" sz="quarter" idx="12"/>
          </p:nvPr>
        </p:nvSpPr>
        <p:spPr>
          <a:xfrm>
            <a:off x="8275320" y="6300216"/>
            <a:ext cx="685800" cy="274320"/>
          </a:xfrm>
        </p:spPr>
        <p:txBody>
          <a:bodyPr vert="horz" lIns="91440" tIns="45720" rIns="91440" bIns="45720" rtlCol="0" anchor="ctr"/>
          <a:lstStyle>
            <a:lvl1pPr marL="0" algn="r" defTabSz="914400" rtl="0" eaLnBrk="1" latinLnBrk="0" hangingPunct="1">
              <a:defRPr sz="1100" kern="1200">
                <a:solidFill>
                  <a:schemeClr val="tx1"/>
                </a:solidFill>
                <a:latin typeface="Rockwell" pitchFamily="18" charset="0"/>
                <a:ea typeface="+mn-ea"/>
                <a:cs typeface="+mn-cs"/>
              </a:defRPr>
            </a:lvl1pPr>
          </a:lstStyle>
          <a:p>
            <a:fld id="{B9D2C864-9362-43C7-A136-D9C41D93A96D}" type="slidenum">
              <a:rPr lang="en-US" smtClean="0"/>
              <a:pPr/>
              <a:t>‹N°›</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Content Placeholder 2"/>
          <p:cNvSpPr>
            <a:spLocks noGrp="1"/>
          </p:cNvSpPr>
          <p:nvPr>
            <p:ph idx="1"/>
          </p:nvPr>
        </p:nvSpPr>
        <p:spPr/>
        <p:txBody>
          <a:bodyPr/>
          <a:lstStyle>
            <a:lvl5pPr>
              <a:defRPr/>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Date Placeholder 3"/>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 avec filigrane">
    <p:bg>
      <p:bgRef idx="1003">
        <a:schemeClr val="bg2"/>
      </p:bgRef>
    </p:bg>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122215" y="3200400"/>
            <a:ext cx="8021782" cy="2209800"/>
          </a:xfrm>
        </p:spPr>
        <p:txBody>
          <a:bodyPr wrap="none" lIns="0" tIns="0" rIns="0" bIns="0" anchor="ctr" anchorCtr="0">
            <a:noAutofit/>
          </a:bodyPr>
          <a:lstStyle>
            <a:lvl1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fr-FR" smtClean="0"/>
              <a:t>Cliquez pour modifier les styles du texte du masque</a:t>
            </a:r>
          </a:p>
        </p:txBody>
      </p:sp>
      <p:sp>
        <p:nvSpPr>
          <p:cNvPr id="2" name="Title 1"/>
          <p:cNvSpPr>
            <a:spLocks noGrp="1"/>
          </p:cNvSpPr>
          <p:nvPr>
            <p:ph type="ctrTitle"/>
          </p:nvPr>
        </p:nvSpPr>
        <p:spPr>
          <a:xfrm>
            <a:off x="3960813" y="3833095"/>
            <a:ext cx="4724400" cy="1209964"/>
          </a:xfrm>
        </p:spPr>
        <p:txBody>
          <a:bodyPr lIns="45720" tIns="0" rIns="45720" bIns="0" anchor="b" anchorCtr="0">
            <a:noAutofit/>
          </a:bodyPr>
          <a:lstStyle>
            <a:lvl1pPr algn="l">
              <a:lnSpc>
                <a:spcPts val="5000"/>
              </a:lnSpc>
              <a:defRPr sz="4600"/>
            </a:lvl1pPr>
          </a:lstStyle>
          <a:p>
            <a:r>
              <a:rPr lang="fr-FR" smtClean="0"/>
              <a:t>Cliquez et modifiez le titre</a:t>
            </a:r>
            <a:endParaRPr dirty="0"/>
          </a:p>
        </p:txBody>
      </p:sp>
      <p:sp>
        <p:nvSpPr>
          <p:cNvPr id="3" name="Subtitle 2"/>
          <p:cNvSpPr>
            <a:spLocks noGrp="1"/>
          </p:cNvSpPr>
          <p:nvPr>
            <p:ph type="subTitle" idx="1"/>
          </p:nvPr>
        </p:nvSpPr>
        <p:spPr>
          <a:xfrm>
            <a:off x="3960813" y="5056909"/>
            <a:ext cx="4724400" cy="1156586"/>
          </a:xfrm>
        </p:spPr>
        <p:txBody>
          <a:bodyPr lIns="91440" tIns="0" rIns="45720" bIns="0">
            <a:normAutofit/>
          </a:bodyPr>
          <a:lstStyle>
            <a:lvl1pPr marL="0" indent="0" algn="l">
              <a:lnSpc>
                <a:spcPts val="2600"/>
              </a:lnSpc>
              <a:spcBef>
                <a:spcPct val="0"/>
              </a:spcBef>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dirty="0"/>
          </a:p>
        </p:txBody>
      </p:sp>
      <p:sp>
        <p:nvSpPr>
          <p:cNvPr id="4" name="Date Placeholder 3"/>
          <p:cNvSpPr>
            <a:spLocks noGrp="1"/>
          </p:cNvSpPr>
          <p:nvPr>
            <p:ph type="dt" sz="half" idx="10"/>
          </p:nvPr>
        </p:nvSpPr>
        <p:spPr>
          <a:xfrm>
            <a:off x="457200" y="6298744"/>
            <a:ext cx="1981200" cy="273050"/>
          </a:xfrm>
        </p:spPr>
        <p:txBody>
          <a:bodyPr/>
          <a:lstStyle>
            <a:lvl1pPr algn="l">
              <a:defRPr sz="1100">
                <a:latin typeface="Rockwell" pitchFamily="18" charset="0"/>
              </a:defRPr>
            </a:lvl1p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a:xfrm>
            <a:off x="3962400" y="6298744"/>
            <a:ext cx="3810000" cy="27305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264856" y="6312392"/>
            <a:ext cx="685800" cy="265089"/>
          </a:xfrm>
        </p:spPr>
        <p:txBody>
          <a:bodyPr/>
          <a:lstStyle>
            <a:lvl1pPr>
              <a:defRPr sz="1100">
                <a:solidFill>
                  <a:schemeClr val="tx1"/>
                </a:solidFill>
                <a:latin typeface="Rockwell" pitchFamily="18" charset="0"/>
              </a:defRPr>
            </a:lvl1pPr>
          </a:lstStyle>
          <a:p>
            <a:fld id="{B9D2C864-9362-43C7-A136-D9C41D93A96D}" type="slidenum">
              <a:rPr lang="en-US" smtClean="0"/>
              <a:pPr/>
              <a:t>‹N°›</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tête de sec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0"/>
            <a:ext cx="7772400" cy="1362075"/>
          </a:xfrm>
        </p:spPr>
        <p:txBody>
          <a:bodyPr vert="horz" lIns="45720" tIns="0" rIns="45720" bIns="0" rtlCol="0" anchor="b" anchorCtr="0">
            <a:noAutofit/>
          </a:bodyPr>
          <a:lstStyle>
            <a:lvl1pPr algn="l" defTabSz="914400" rtl="0" eaLnBrk="1" latinLnBrk="0" hangingPunct="1">
              <a:lnSpc>
                <a:spcPts val="5000"/>
              </a:lnSpc>
              <a:spcBef>
                <a:spcPct val="0"/>
              </a:spcBef>
              <a:buNone/>
              <a:defRPr sz="4600" b="1" kern="1200" cap="none" baseline="0">
                <a:solidFill>
                  <a:schemeClr val="tx1"/>
                </a:solidFill>
                <a:latin typeface="+mj-lt"/>
                <a:ea typeface="+mj-ea"/>
                <a:cs typeface="+mj-cs"/>
              </a:defRPr>
            </a:lvl1pPr>
          </a:lstStyle>
          <a:p>
            <a:r>
              <a:rPr lang="fr-FR" smtClean="0"/>
              <a:t>Cliquez et modifiez le titre</a:t>
            </a:r>
            <a:endParaRPr/>
          </a:p>
        </p:txBody>
      </p:sp>
      <p:sp>
        <p:nvSpPr>
          <p:cNvPr id="3" name="Text Placeholder 2"/>
          <p:cNvSpPr>
            <a:spLocks noGrp="1"/>
          </p:cNvSpPr>
          <p:nvPr>
            <p:ph type="body" idx="1"/>
          </p:nvPr>
        </p:nvSpPr>
        <p:spPr>
          <a:xfrm>
            <a:off x="457200" y="3557016"/>
            <a:ext cx="7772400" cy="987552"/>
          </a:xfrm>
        </p:spPr>
        <p:txBody>
          <a:bodyPr vert="horz" lIns="91440" tIns="0" rIns="45720" bIns="0" rtlCol="0" anchor="t" anchorCtr="0">
            <a:normAutofit/>
          </a:bodyPr>
          <a:lstStyle>
            <a:lvl1pPr marL="0" indent="0">
              <a:spcBef>
                <a:spcPts val="0"/>
              </a:spcBef>
              <a:buNone/>
              <a:defRPr sz="2200" kern="1200">
                <a:solidFill>
                  <a:schemeClr val="tx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SzPct val="90000"/>
              <a:buFontTx/>
              <a:buNone/>
            </a:pPr>
            <a:r>
              <a:rPr lang="fr-FR" smtClean="0"/>
              <a:t>Cliquez pour modifier les styles du texte du masque</a:t>
            </a:r>
          </a:p>
        </p:txBody>
      </p:sp>
      <p:sp>
        <p:nvSpPr>
          <p:cNvPr id="4" name="Date Placeholder 3"/>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avec filigrane">
    <p:bg>
      <p:bgRef idx="1002">
        <a:schemeClr val="bg2"/>
      </p:bgRef>
    </p:bg>
    <p:spTree>
      <p:nvGrpSpPr>
        <p:cNvPr id="1" name=""/>
        <p:cNvGrpSpPr/>
        <p:nvPr/>
      </p:nvGrpSpPr>
      <p:grpSpPr>
        <a:xfrm>
          <a:off x="0" y="0"/>
          <a:ext cx="0" cy="0"/>
          <a:chOff x="0" y="0"/>
          <a:chExt cx="0" cy="0"/>
        </a:xfrm>
      </p:grpSpPr>
      <p:sp>
        <p:nvSpPr>
          <p:cNvPr id="7" name="Text Placeholder 7"/>
          <p:cNvSpPr>
            <a:spLocks noGrp="1"/>
          </p:cNvSpPr>
          <p:nvPr>
            <p:ph type="body" sz="quarter" idx="13"/>
          </p:nvPr>
        </p:nvSpPr>
        <p:spPr>
          <a:xfrm>
            <a:off x="712693" y="1689847"/>
            <a:ext cx="8431303" cy="2209800"/>
          </a:xfrm>
        </p:spPr>
        <p:txBody>
          <a:bodyPr wrap="none" lIns="0" tIns="0" rIns="0" bIns="0" anchor="ctr" anchorCtr="0">
            <a:noAutofit/>
          </a:bodyPr>
          <a:lstStyle>
            <a:lvl1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fr-FR" smtClean="0"/>
              <a:t>Cliquez pour modifier les styles du texte du masque</a:t>
            </a:r>
          </a:p>
        </p:txBody>
      </p:sp>
      <p:sp>
        <p:nvSpPr>
          <p:cNvPr id="2" name="Title 1"/>
          <p:cNvSpPr>
            <a:spLocks noGrp="1"/>
          </p:cNvSpPr>
          <p:nvPr>
            <p:ph type="title"/>
          </p:nvPr>
        </p:nvSpPr>
        <p:spPr>
          <a:xfrm>
            <a:off x="457201" y="2196353"/>
            <a:ext cx="5334000" cy="1362075"/>
          </a:xfrm>
        </p:spPr>
        <p:txBody>
          <a:bodyPr lIns="45720" tIns="0" rIns="45720" bIns="0" anchor="b" anchorCtr="0"/>
          <a:lstStyle>
            <a:lvl1pPr algn="l">
              <a:lnSpc>
                <a:spcPts val="5000"/>
              </a:lnSpc>
              <a:defRPr sz="4600" b="1" cap="none" baseline="0"/>
            </a:lvl1pPr>
          </a:lstStyle>
          <a:p>
            <a:r>
              <a:rPr lang="fr-FR" smtClean="0"/>
              <a:t>Cliquez et modifiez le titre</a:t>
            </a:r>
            <a:endParaRPr/>
          </a:p>
        </p:txBody>
      </p:sp>
      <p:sp>
        <p:nvSpPr>
          <p:cNvPr id="3" name="Text Placeholder 2"/>
          <p:cNvSpPr>
            <a:spLocks noGrp="1"/>
          </p:cNvSpPr>
          <p:nvPr>
            <p:ph type="body" idx="1"/>
          </p:nvPr>
        </p:nvSpPr>
        <p:spPr>
          <a:xfrm>
            <a:off x="457200" y="3560618"/>
            <a:ext cx="5334000" cy="983087"/>
          </a:xfrm>
        </p:spPr>
        <p:txBody>
          <a:bodyPr tIns="0" rIns="45720" bIns="0" anchor="t" anchorCtr="0"/>
          <a:lstStyle>
            <a:lvl1pPr marL="0" indent="0">
              <a:spcBef>
                <a:spcPct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Date Placeholder 3"/>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avec imag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52775" y="4069804"/>
            <a:ext cx="5538788" cy="1162050"/>
          </a:xfrm>
        </p:spPr>
        <p:txBody>
          <a:bodyPr tIns="0" bIns="0" anchor="b"/>
          <a:lstStyle>
            <a:lvl1pPr algn="l">
              <a:lnSpc>
                <a:spcPts val="4600"/>
              </a:lnSpc>
              <a:defRPr sz="4600" b="1"/>
            </a:lvl1pPr>
          </a:lstStyle>
          <a:p>
            <a:r>
              <a:rPr lang="fr-FR" smtClean="0"/>
              <a:t>Cliquez et modifiez le titre</a:t>
            </a:r>
            <a:endParaRPr/>
          </a:p>
        </p:txBody>
      </p:sp>
      <p:grpSp>
        <p:nvGrpSpPr>
          <p:cNvPr id="3" name="Group 8"/>
          <p:cNvGrpSpPr/>
          <p:nvPr/>
        </p:nvGrpSpPr>
        <p:grpSpPr>
          <a:xfrm rot="21240000">
            <a:off x="654352" y="445180"/>
            <a:ext cx="5416247" cy="3630168"/>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5"/>
          </p:nvPr>
        </p:nvSpPr>
        <p:spPr>
          <a:xfrm rot="21240000">
            <a:off x="857677" y="632632"/>
            <a:ext cx="5009597" cy="3255264"/>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sp>
        <p:nvSpPr>
          <p:cNvPr id="4" name="Text Placeholder 3"/>
          <p:cNvSpPr>
            <a:spLocks noGrp="1"/>
          </p:cNvSpPr>
          <p:nvPr>
            <p:ph type="body" sz="half" idx="2"/>
          </p:nvPr>
        </p:nvSpPr>
        <p:spPr>
          <a:xfrm>
            <a:off x="3158117" y="5230906"/>
            <a:ext cx="5532958" cy="865093"/>
          </a:xfrm>
        </p:spPr>
        <p:txBody>
          <a:bodyPr/>
          <a:lstStyle>
            <a:lvl1pPr marL="0" indent="0">
              <a:spcBef>
                <a:spcPct val="0"/>
              </a:spcBef>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Content Placeholder 3"/>
          <p:cNvSpPr>
            <a:spLocks noGrp="1"/>
          </p:cNvSpPr>
          <p:nvPr>
            <p:ph sz="half" idx="2"/>
          </p:nvPr>
        </p:nvSpPr>
        <p:spPr>
          <a:xfrm>
            <a:off x="46482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Cliquez et modifiez le titre</a:t>
            </a:r>
            <a:endParaRPr/>
          </a:p>
        </p:txBody>
      </p:sp>
      <p:sp>
        <p:nvSpPr>
          <p:cNvPr id="3" name="Text Placeholder 2"/>
          <p:cNvSpPr>
            <a:spLocks noGrp="1"/>
          </p:cNvSpPr>
          <p:nvPr>
            <p:ph type="body" idx="1"/>
          </p:nvPr>
        </p:nvSpPr>
        <p:spPr>
          <a:xfrm>
            <a:off x="971326"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Content Placeholder 3"/>
          <p:cNvSpPr>
            <a:spLocks noGrp="1"/>
          </p:cNvSpPr>
          <p:nvPr>
            <p:ph sz="half" idx="2"/>
          </p:nvPr>
        </p:nvSpPr>
        <p:spPr>
          <a:xfrm>
            <a:off x="897367" y="2174875"/>
            <a:ext cx="3566160" cy="3616325"/>
          </a:xfrm>
        </p:spPr>
        <p:txBody>
          <a:bodyPr/>
          <a:lstStyle>
            <a:lvl1pPr>
              <a:defRPr sz="2200"/>
            </a:lvl1pPr>
            <a:lvl2pPr>
              <a:defRPr sz="2000"/>
            </a:lvl2pPr>
            <a:lvl3pPr>
              <a:defRPr sz="1800"/>
            </a:lvl3pPr>
            <a:lvl4pPr>
              <a:defRPr sz="1600"/>
            </a:lvl4pPr>
            <a:lvl5pPr>
              <a:defRPr sz="1600"/>
            </a:lvl5pPr>
            <a:lvl6pPr marL="2290763" indent="-344488">
              <a:defRPr sz="1600"/>
            </a:lvl6pPr>
            <a:lvl7pPr marL="2290763" indent="-344488">
              <a:defRPr sz="1600"/>
            </a:lvl7pPr>
            <a:lvl8pPr marL="2290763" indent="-344488">
              <a:defRPr sz="1600"/>
            </a:lvl8pPr>
            <a:lvl9pPr marL="2290763" indent="-344488">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5" name="Text Placeholder 4"/>
          <p:cNvSpPr>
            <a:spLocks noGrp="1"/>
          </p:cNvSpPr>
          <p:nvPr>
            <p:ph type="body" sz="quarter" idx="3"/>
          </p:nvPr>
        </p:nvSpPr>
        <p:spPr>
          <a:xfrm>
            <a:off x="4930247"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Content Placeholder 5"/>
          <p:cNvSpPr>
            <a:spLocks noGrp="1"/>
          </p:cNvSpPr>
          <p:nvPr>
            <p:ph sz="quarter" idx="4"/>
          </p:nvPr>
        </p:nvSpPr>
        <p:spPr>
          <a:xfrm>
            <a:off x="4646514" y="2174875"/>
            <a:ext cx="3566160" cy="3616325"/>
          </a:xfrm>
        </p:spPr>
        <p:txBody>
          <a:bodyPr/>
          <a:lstStyle>
            <a:lvl1pPr>
              <a:defRPr sz="2200"/>
            </a:lvl1pPr>
            <a:lvl2pPr>
              <a:defRPr sz="2000"/>
            </a:lvl2pPr>
            <a:lvl3pPr>
              <a:defRPr sz="1800"/>
            </a:lvl3pPr>
            <a:lvl4pPr>
              <a:defRPr sz="1600"/>
            </a:lvl4pPr>
            <a:lvl5pPr>
              <a:defRPr sz="1600"/>
            </a:lvl5pPr>
            <a:lvl6pPr marL="2290763" indent="-344488">
              <a:defRPr sz="1600"/>
            </a:lvl6pPr>
            <a:lvl7pPr marL="2290763" indent="-344488">
              <a:defRPr sz="1600"/>
            </a:lvl7pPr>
            <a:lvl8pPr marL="2290763" indent="-344488">
              <a:defRPr sz="1600"/>
            </a:lvl8pPr>
            <a:lvl9pPr marL="2290763" indent="-344488">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7" name="Date Placeholder 6"/>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9D2C864-9362-43C7-A136-D9C41D93A96D}" type="slidenum">
              <a:rPr lang="en-US" smtClean="0"/>
              <a:pPr/>
              <a:t>‹N°›</a:t>
            </a:fld>
            <a:endParaRPr lang="en-US" dirty="0"/>
          </a:p>
        </p:txBody>
      </p:sp>
      <p:pic>
        <p:nvPicPr>
          <p:cNvPr id="11" name="Picture 10"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3" name="Picture 12" descr="Comparison-Underline.png"/>
          <p:cNvPicPr>
            <a:picLocks noChangeAspect="1"/>
          </p:cNvPicPr>
          <p:nvPr/>
        </p:nvPicPr>
        <p:blipFill>
          <a:blip r:embed="rId2"/>
          <a:stretch>
            <a:fillRect/>
          </a:stretch>
        </p:blipFill>
        <p:spPr>
          <a:xfrm>
            <a:off x="4915960" y="1897040"/>
            <a:ext cx="3228975" cy="142875"/>
          </a:xfrm>
          <a:prstGeom prst="rect">
            <a:avLst/>
          </a:prstGeom>
        </p:spPr>
      </p:pic>
      <p:pic>
        <p:nvPicPr>
          <p:cNvPr id="12" name="Picture 11"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4" name="Picture 13" descr="Comparison-Underline.png"/>
          <p:cNvPicPr>
            <a:picLocks noChangeAspect="1"/>
          </p:cNvPicPr>
          <p:nvPr/>
        </p:nvPicPr>
        <p:blipFill>
          <a:blip r:embed="rId2"/>
          <a:stretch>
            <a:fillRect/>
          </a:stretch>
        </p:blipFill>
        <p:spPr>
          <a:xfrm>
            <a:off x="4915960" y="1897040"/>
            <a:ext cx="3228975" cy="14287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us, Haut et b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Content Placeholder 2"/>
          <p:cNvSpPr>
            <a:spLocks noGrp="1"/>
          </p:cNvSpPr>
          <p:nvPr>
            <p:ph sz="half" idx="1"/>
          </p:nvPr>
        </p:nvSpPr>
        <p:spPr>
          <a:xfrm>
            <a:off x="914400" y="1735138"/>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
        <p:nvSpPr>
          <p:cNvPr id="8" name="Content Placeholder 2"/>
          <p:cNvSpPr>
            <a:spLocks noGrp="1"/>
          </p:cNvSpPr>
          <p:nvPr>
            <p:ph sz="half" idx="13"/>
          </p:nvPr>
        </p:nvSpPr>
        <p:spPr>
          <a:xfrm>
            <a:off x="914400" y="3870960"/>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marL="2290763" indent="-344488">
              <a:tabLst/>
              <a:defRPr sz="1800"/>
            </a:lvl6pPr>
            <a:lvl7pPr marL="2290763" indent="-344488">
              <a:tabLst/>
              <a:defRPr sz="1800"/>
            </a:lvl7pPr>
            <a:lvl8pPr marL="2290763" indent="-344488">
              <a:tabLst/>
              <a:defRPr sz="1800"/>
            </a:lvl8pPr>
            <a:lvl9pPr marL="2290763" indent="-344488">
              <a:tabLst/>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10"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Content Placeholder 2"/>
          <p:cNvSpPr>
            <a:spLocks noGrp="1"/>
          </p:cNvSpPr>
          <p:nvPr>
            <p:ph sz="half" idx="1"/>
          </p:nvPr>
        </p:nvSpPr>
        <p:spPr>
          <a:xfrm>
            <a:off x="914400" y="1735138"/>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
        <p:nvSpPr>
          <p:cNvPr id="8" name="Content Placeholder 2"/>
          <p:cNvSpPr>
            <a:spLocks noGrp="1"/>
          </p:cNvSpPr>
          <p:nvPr>
            <p:ph sz="half" idx="13"/>
          </p:nvPr>
        </p:nvSpPr>
        <p:spPr>
          <a:xfrm>
            <a:off x="914400"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marL="2290763" indent="-344488">
              <a:defRPr sz="1800"/>
            </a:lvl6pPr>
            <a:lvl7pPr marL="2290763" indent="-344488">
              <a:defRPr sz="1800"/>
            </a:lvl7pPr>
            <a:lvl8pPr marL="2290763" indent="-344488">
              <a:defRPr sz="1800"/>
            </a:lvl8pPr>
            <a:lvl9pPr marL="2290763" indent="-344488">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Date Placeholder 2"/>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4400" y="1690048"/>
            <a:ext cx="3563938" cy="1162050"/>
          </a:xfrm>
        </p:spPr>
        <p:txBody>
          <a:bodyPr tIns="0" bIns="0" anchor="b"/>
          <a:lstStyle>
            <a:lvl1pPr algn="l">
              <a:lnSpc>
                <a:spcPts val="4600"/>
              </a:lnSpc>
              <a:defRPr sz="4200" b="1"/>
            </a:lvl1pPr>
          </a:lstStyle>
          <a:p>
            <a:r>
              <a:rPr lang="fr-FR" smtClean="0"/>
              <a:t>Cliquez et modifiez le titre</a:t>
            </a:r>
            <a:endParaRPr/>
          </a:p>
        </p:txBody>
      </p:sp>
      <p:sp>
        <p:nvSpPr>
          <p:cNvPr id="3" name="Content Placeholder 2"/>
          <p:cNvSpPr>
            <a:spLocks noGrp="1"/>
          </p:cNvSpPr>
          <p:nvPr>
            <p:ph idx="1"/>
          </p:nvPr>
        </p:nvSpPr>
        <p:spPr>
          <a:xfrm>
            <a:off x="4667250" y="368490"/>
            <a:ext cx="3566160" cy="5627498"/>
          </a:xfrm>
        </p:spPr>
        <p:txBody>
          <a:bodyPr/>
          <a:lstStyle>
            <a:lvl1pPr>
              <a:defRPr sz="2200"/>
            </a:lvl1pPr>
            <a:lvl2pPr>
              <a:defRPr sz="2000"/>
            </a:lvl2pPr>
            <a:lvl3pPr>
              <a:defRPr sz="1800"/>
            </a:lvl3pPr>
            <a:lvl4pPr>
              <a:defRPr sz="1800"/>
            </a:lvl4pPr>
            <a:lvl5pPr>
              <a:defRPr sz="1800"/>
            </a:lvl5pPr>
            <a:lvl6pPr>
              <a:defRPr sz="2000"/>
            </a:lvl6pPr>
            <a:lvl7pPr marL="2290763" indent="-344488">
              <a:defRPr sz="2000"/>
            </a:lvl7pPr>
            <a:lvl8pPr marL="2290763" indent="-344488">
              <a:defRPr sz="2000"/>
            </a:lvl8pPr>
            <a:lvl9pPr marL="2290763" indent="-344488">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Text Placeholder 3"/>
          <p:cNvSpPr>
            <a:spLocks noGrp="1"/>
          </p:cNvSpPr>
          <p:nvPr>
            <p:ph type="body" sz="half" idx="2"/>
          </p:nvPr>
        </p:nvSpPr>
        <p:spPr>
          <a:xfrm>
            <a:off x="914398" y="2866030"/>
            <a:ext cx="3563938"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17546" y="1524000"/>
            <a:ext cx="3566160" cy="1162050"/>
          </a:xfrm>
        </p:spPr>
        <p:txBody>
          <a:bodyPr tIns="0" bIns="0" anchor="b"/>
          <a:lstStyle>
            <a:lvl1pPr algn="l">
              <a:lnSpc>
                <a:spcPts val="4600"/>
              </a:lnSpc>
              <a:defRPr sz="4200" b="1"/>
            </a:lvl1pPr>
          </a:lstStyle>
          <a:p>
            <a:r>
              <a:rPr lang="fr-FR" smtClean="0"/>
              <a:t>Cliquez et modifiez le titre</a:t>
            </a:r>
            <a:endParaRPr/>
          </a:p>
        </p:txBody>
      </p:sp>
      <p:sp>
        <p:nvSpPr>
          <p:cNvPr id="4" name="Text Placeholder 3"/>
          <p:cNvSpPr>
            <a:spLocks noGrp="1"/>
          </p:cNvSpPr>
          <p:nvPr>
            <p:ph type="body" sz="half" idx="2"/>
          </p:nvPr>
        </p:nvSpPr>
        <p:spPr>
          <a:xfrm>
            <a:off x="5017544" y="2699982"/>
            <a:ext cx="3566160"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grpSp>
        <p:nvGrpSpPr>
          <p:cNvPr id="3" name="Group 7"/>
          <p:cNvGrpSpPr/>
          <p:nvPr/>
        </p:nvGrpSpPr>
        <p:grpSpPr>
          <a:xfrm rot="21421631">
            <a:off x="629028" y="505650"/>
            <a:ext cx="3850925" cy="5516274"/>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4"/>
          </p:nvPr>
        </p:nvSpPr>
        <p:spPr>
          <a:xfrm rot="21421631">
            <a:off x="808793" y="667560"/>
            <a:ext cx="3468664" cy="5124723"/>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images avec légende">
    <p:spTree>
      <p:nvGrpSpPr>
        <p:cNvPr id="1" name=""/>
        <p:cNvGrpSpPr/>
        <p:nvPr/>
      </p:nvGrpSpPr>
      <p:grpSpPr>
        <a:xfrm>
          <a:off x="0" y="0"/>
          <a:ext cx="0" cy="0"/>
          <a:chOff x="0" y="0"/>
          <a:chExt cx="0" cy="0"/>
        </a:xfrm>
      </p:grpSpPr>
      <p:grpSp>
        <p:nvGrpSpPr>
          <p:cNvPr id="3" name="Group 13"/>
          <p:cNvGrpSpPr/>
          <p:nvPr/>
        </p:nvGrpSpPr>
        <p:grpSpPr>
          <a:xfrm rot="21214351">
            <a:off x="313409" y="3520798"/>
            <a:ext cx="4088024" cy="302602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6"/>
          </p:nvPr>
        </p:nvSpPr>
        <p:spPr>
          <a:xfrm rot="21214351">
            <a:off x="491057" y="3682579"/>
            <a:ext cx="3704109" cy="2697083"/>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grpSp>
        <p:nvGrpSpPr>
          <p:cNvPr id="8" name="Group 9"/>
          <p:cNvGrpSpPr/>
          <p:nvPr/>
        </p:nvGrpSpPr>
        <p:grpSpPr>
          <a:xfrm rot="232774">
            <a:off x="169481" y="241256"/>
            <a:ext cx="4088024" cy="3026020"/>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5"/>
          </p:nvPr>
        </p:nvSpPr>
        <p:spPr>
          <a:xfrm rot="232774">
            <a:off x="347129" y="403037"/>
            <a:ext cx="3704109" cy="2697083"/>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sp>
        <p:nvSpPr>
          <p:cNvPr id="2" name="Title 1"/>
          <p:cNvSpPr>
            <a:spLocks noGrp="1"/>
          </p:cNvSpPr>
          <p:nvPr>
            <p:ph type="title"/>
          </p:nvPr>
        </p:nvSpPr>
        <p:spPr>
          <a:xfrm>
            <a:off x="5013434" y="1524000"/>
            <a:ext cx="3566160" cy="1162050"/>
          </a:xfrm>
        </p:spPr>
        <p:txBody>
          <a:bodyPr tIns="0" bIns="0" anchor="b"/>
          <a:lstStyle>
            <a:lvl1pPr algn="l">
              <a:lnSpc>
                <a:spcPts val="4600"/>
              </a:lnSpc>
              <a:defRPr sz="4200" b="1"/>
            </a:lvl1pPr>
          </a:lstStyle>
          <a:p>
            <a:r>
              <a:rPr lang="fr-FR" smtClean="0"/>
              <a:t>Cliquez et modifiez le titre</a:t>
            </a:r>
            <a:endParaRPr/>
          </a:p>
        </p:txBody>
      </p:sp>
      <p:sp>
        <p:nvSpPr>
          <p:cNvPr id="4" name="Text Placeholder 3"/>
          <p:cNvSpPr>
            <a:spLocks noGrp="1"/>
          </p:cNvSpPr>
          <p:nvPr>
            <p:ph type="body" sz="half" idx="2"/>
          </p:nvPr>
        </p:nvSpPr>
        <p:spPr>
          <a:xfrm>
            <a:off x="5013432" y="2699982"/>
            <a:ext cx="3566160" cy="2163171"/>
          </a:xfrm>
        </p:spPr>
        <p:txBody>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 au-dessus de légende">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fr-FR" smtClean="0"/>
              <a:t>Cliquez et modifiez le titre</a:t>
            </a:r>
            <a:endParaRPr/>
          </a:p>
        </p:txBody>
      </p:sp>
      <p:grpSp>
        <p:nvGrpSpPr>
          <p:cNvPr id="3" name="Group 8"/>
          <p:cNvGrpSpPr/>
          <p:nvPr/>
        </p:nvGrpSpPr>
        <p:grpSpPr>
          <a:xfrm rot="232774">
            <a:off x="2059282" y="379100"/>
            <a:ext cx="5031327" cy="3443312"/>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Text Placeholder 3"/>
          <p:cNvSpPr>
            <a:spLocks noGrp="1"/>
          </p:cNvSpPr>
          <p:nvPr>
            <p:ph type="body" sz="half" idx="2"/>
          </p:nvPr>
        </p:nvSpPr>
        <p:spPr>
          <a:xfrm>
            <a:off x="914400" y="4928736"/>
            <a:ext cx="7315200" cy="98797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
        <p:nvSpPr>
          <p:cNvPr id="12" name="Picture Placeholder 9"/>
          <p:cNvSpPr>
            <a:spLocks noGrp="1"/>
          </p:cNvSpPr>
          <p:nvPr>
            <p:ph type="pic" sz="quarter" idx="15"/>
          </p:nvPr>
        </p:nvSpPr>
        <p:spPr>
          <a:xfrm rot="232774">
            <a:off x="2248157" y="564564"/>
            <a:ext cx="4653577" cy="3072384"/>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images au-dessus de légende">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fr-FR" smtClean="0"/>
              <a:t>Cliquez et modifiez le titre</a:t>
            </a:r>
            <a:endParaRPr/>
          </a:p>
        </p:txBody>
      </p:sp>
      <p:grpSp>
        <p:nvGrpSpPr>
          <p:cNvPr id="3" name="Group 13"/>
          <p:cNvGrpSpPr/>
          <p:nvPr/>
        </p:nvGrpSpPr>
        <p:grpSpPr>
          <a:xfrm rot="21420000">
            <a:off x="113687" y="116368"/>
            <a:ext cx="3969060" cy="370536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7"/>
          </p:nvPr>
        </p:nvSpPr>
        <p:spPr>
          <a:xfrm rot="21420000">
            <a:off x="299151" y="304998"/>
            <a:ext cx="3598455" cy="3334235"/>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grpSp>
        <p:nvGrpSpPr>
          <p:cNvPr id="8" name="Group 9"/>
          <p:cNvGrpSpPr/>
          <p:nvPr/>
        </p:nvGrpSpPr>
        <p:grpSpPr>
          <a:xfrm rot="360000">
            <a:off x="4165479" y="323141"/>
            <a:ext cx="4792693" cy="3443312"/>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6"/>
          </p:nvPr>
        </p:nvSpPr>
        <p:spPr>
          <a:xfrm rot="360000">
            <a:off x="4336486" y="507668"/>
            <a:ext cx="4432860" cy="3072384"/>
          </a:xfrm>
          <a:solidFill>
            <a:schemeClr val="bg1">
              <a:lumMod val="85000"/>
            </a:schemeClr>
          </a:solidFill>
        </p:spPr>
        <p:txBody>
          <a:bodyPr/>
          <a:lstStyle>
            <a:lvl1pPr>
              <a:buNone/>
              <a:defRPr/>
            </a:lvl1pPr>
          </a:lstStyle>
          <a:p>
            <a:r>
              <a:rPr lang="fr-FR" dirty="0" smtClean="0"/>
              <a:t>Faire glisser l'image vers l'espace réservé ou cliquer sur l'icône pour l'ajouter</a:t>
            </a:r>
            <a:endParaRPr/>
          </a:p>
        </p:txBody>
      </p:sp>
      <p:sp>
        <p:nvSpPr>
          <p:cNvPr id="4" name="Text Placeholder 3"/>
          <p:cNvSpPr>
            <a:spLocks noGrp="1"/>
          </p:cNvSpPr>
          <p:nvPr>
            <p:ph type="body" sz="half" idx="2"/>
          </p:nvPr>
        </p:nvSpPr>
        <p:spPr>
          <a:xfrm>
            <a:off x="914400" y="4926106"/>
            <a:ext cx="7315200" cy="99060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Date Placeholder 4"/>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re et texte vertic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Cliquez et modifiez le titre</a:t>
            </a:r>
            <a:endParaRPr/>
          </a:p>
        </p:txBody>
      </p:sp>
      <p:sp>
        <p:nvSpPr>
          <p:cNvPr id="3" name="Vertical Text Placeholder 2"/>
          <p:cNvSpPr>
            <a:spLocks noGrp="1"/>
          </p:cNvSpPr>
          <p:nvPr>
            <p:ph type="body" orient="vert" idx="1"/>
          </p:nvPr>
        </p:nvSpPr>
        <p:spPr/>
        <p:txBody>
          <a:bodyPr vert="eaVert"/>
          <a:lstStyle>
            <a:lvl5pPr>
              <a:defRPr/>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Date Placeholder 3"/>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51682" y="450851"/>
            <a:ext cx="846083" cy="5357812"/>
          </a:xfrm>
        </p:spPr>
        <p:txBody>
          <a:bodyPr vert="eaVert" anchor="t" anchorCtr="0"/>
          <a:lstStyle/>
          <a:p>
            <a:r>
              <a:rPr lang="fr-FR" smtClean="0"/>
              <a:t>Cliquez et modifiez le titre</a:t>
            </a:r>
            <a:endParaRPr/>
          </a:p>
        </p:txBody>
      </p:sp>
      <p:sp>
        <p:nvSpPr>
          <p:cNvPr id="3" name="Vertical Text Placeholder 2"/>
          <p:cNvSpPr>
            <a:spLocks noGrp="1"/>
          </p:cNvSpPr>
          <p:nvPr>
            <p:ph type="body" orient="vert" idx="1"/>
          </p:nvPr>
        </p:nvSpPr>
        <p:spPr>
          <a:xfrm>
            <a:off x="914400" y="450851"/>
            <a:ext cx="5943600" cy="5357812"/>
          </a:xfrm>
        </p:spPr>
        <p:txBody>
          <a:bodyPr vert="eaVert"/>
          <a:lstStyle>
            <a:lvl5pPr>
              <a:defRPr/>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Date Placeholder 3"/>
          <p:cNvSpPr>
            <a:spLocks noGrp="1"/>
          </p:cNvSpPr>
          <p:nvPr>
            <p:ph type="dt" sz="half" idx="10"/>
          </p:nvPr>
        </p:nvSpPr>
        <p:spPr/>
        <p:txBody>
          <a:body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D2C864-9362-43C7-A136-D9C41D93A96D}" type="slidenum">
              <a:rPr lang="en-US" smtClean="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8.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7.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03238"/>
            <a:ext cx="7313613" cy="868362"/>
          </a:xfrm>
          <a:prstGeom prst="rect">
            <a:avLst/>
          </a:prstGeom>
        </p:spPr>
        <p:txBody>
          <a:bodyPr vert="horz" lIns="91440" tIns="45720" rIns="91440" bIns="45720" rtlCol="0" anchor="ctr">
            <a:noAutofit/>
          </a:bodyPr>
          <a:lstStyle/>
          <a:p>
            <a:r>
              <a:rPr lang="fr-FR" smtClean="0"/>
              <a:t>Cliquez et modifiez le titre</a:t>
            </a:r>
            <a:endParaRPr/>
          </a:p>
        </p:txBody>
      </p:sp>
      <p:sp>
        <p:nvSpPr>
          <p:cNvPr id="3" name="Text Placeholder 2"/>
          <p:cNvSpPr>
            <a:spLocks noGrp="1"/>
          </p:cNvSpPr>
          <p:nvPr>
            <p:ph type="body" idx="1"/>
          </p:nvPr>
        </p:nvSpPr>
        <p:spPr>
          <a:xfrm>
            <a:off x="914400" y="1735138"/>
            <a:ext cx="7313613" cy="4056062"/>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dirty="0"/>
          </a:p>
        </p:txBody>
      </p:sp>
      <p:sp>
        <p:nvSpPr>
          <p:cNvPr id="4" name="Date Placeholder 3"/>
          <p:cNvSpPr>
            <a:spLocks noGrp="1"/>
          </p:cNvSpPr>
          <p:nvPr>
            <p:ph type="dt" sz="half" idx="2"/>
          </p:nvPr>
        </p:nvSpPr>
        <p:spPr>
          <a:xfrm>
            <a:off x="7663438" y="6314461"/>
            <a:ext cx="1295400" cy="265089"/>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fld id="{2DF66AD8-BC4A-4004-9882-414398D930CA}" type="datetimeFigureOut">
              <a:rPr lang="en-US" smtClean="0"/>
              <a:pPr/>
              <a:t>5/27/2021</a:t>
            </a:fld>
            <a:endParaRPr lang="en-US" dirty="0"/>
          </a:p>
        </p:txBody>
      </p:sp>
      <p:sp>
        <p:nvSpPr>
          <p:cNvPr id="5" name="Footer Placeholder 4"/>
          <p:cNvSpPr>
            <a:spLocks noGrp="1"/>
          </p:cNvSpPr>
          <p:nvPr>
            <p:ph type="ftr" sz="quarter" idx="3"/>
          </p:nvPr>
        </p:nvSpPr>
        <p:spPr>
          <a:xfrm>
            <a:off x="3942607" y="6305797"/>
            <a:ext cx="3717967" cy="259278"/>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endParaRPr lang="en-US" dirty="0"/>
          </a:p>
        </p:txBody>
      </p:sp>
      <p:sp>
        <p:nvSpPr>
          <p:cNvPr id="6" name="Slide Number Placeholder 5"/>
          <p:cNvSpPr>
            <a:spLocks noGrp="1"/>
          </p:cNvSpPr>
          <p:nvPr>
            <p:ph type="sldNum" sz="quarter" idx="4"/>
          </p:nvPr>
        </p:nvSpPr>
        <p:spPr>
          <a:xfrm>
            <a:off x="7521388" y="5476097"/>
            <a:ext cx="1483056" cy="851848"/>
          </a:xfrm>
          <a:prstGeom prst="rect">
            <a:avLst/>
          </a:prstGeom>
        </p:spPr>
        <p:txBody>
          <a:bodyPr vert="horz" lIns="91440" tIns="45720" rIns="91440" bIns="45720" rtlCol="0" anchor="ctr"/>
          <a:lstStyle>
            <a:lvl1pPr algn="r">
              <a:defRPr sz="8200">
                <a:gradFill>
                  <a:gsLst>
                    <a:gs pos="0">
                      <a:schemeClr val="tx1">
                        <a:alpha val="10000"/>
                      </a:schemeClr>
                    </a:gs>
                    <a:gs pos="100000">
                      <a:schemeClr val="tx1">
                        <a:alpha val="10000"/>
                      </a:schemeClr>
                    </a:gs>
                  </a:gsLst>
                  <a:lin ang="5400000" scaled="0"/>
                </a:gradFill>
                <a:latin typeface="Impact" pitchFamily="34" charset="0"/>
              </a:defRPr>
            </a:lvl1pPr>
          </a:lstStyle>
          <a:p>
            <a:fld id="{B9D2C864-9362-43C7-A136-D9C41D93A96D}"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ctr" defTabSz="914400" rtl="0" eaLnBrk="1" latinLnBrk="0" hangingPunct="1">
        <a:spcBef>
          <a:spcPct val="0"/>
        </a:spcBef>
        <a:buNone/>
        <a:defRPr sz="4600" kern="1200">
          <a:solidFill>
            <a:schemeClr val="tx1"/>
          </a:solidFill>
          <a:latin typeface="+mj-lt"/>
          <a:ea typeface="+mj-ea"/>
          <a:cs typeface="+mj-cs"/>
        </a:defRPr>
      </a:lvl1pPr>
    </p:titleStyle>
    <p:bodyStyle>
      <a:lvl1pPr marL="463550" indent="-463550" algn="l" defTabSz="914400" rtl="0" eaLnBrk="1" latinLnBrk="0" hangingPunct="1">
        <a:spcBef>
          <a:spcPts val="2000"/>
        </a:spcBef>
        <a:buSzPct val="90000"/>
        <a:buFontTx/>
        <a:buBlip>
          <a:blip r:embed="rId22"/>
        </a:buBlip>
        <a:defRPr sz="2400" kern="1200">
          <a:solidFill>
            <a:schemeClr val="tx1"/>
          </a:solidFill>
          <a:latin typeface="+mn-lt"/>
          <a:ea typeface="+mn-ea"/>
          <a:cs typeface="+mn-cs"/>
        </a:defRPr>
      </a:lvl1pPr>
      <a:lvl2pPr marL="914400" indent="-457200" algn="l" defTabSz="914400" rtl="0" eaLnBrk="1" latinLnBrk="0" hangingPunct="1">
        <a:spcBef>
          <a:spcPts val="600"/>
        </a:spcBef>
        <a:buSzPct val="90000"/>
        <a:buFontTx/>
        <a:buBlip>
          <a:blip r:embed="rId23"/>
        </a:buBlip>
        <a:defRPr sz="2200" kern="1200">
          <a:solidFill>
            <a:schemeClr val="tx1"/>
          </a:solidFill>
          <a:latin typeface="+mn-lt"/>
          <a:ea typeface="+mn-ea"/>
          <a:cs typeface="+mn-cs"/>
        </a:defRPr>
      </a:lvl2pPr>
      <a:lvl3pPr marL="1255713" indent="-341313" algn="l" defTabSz="914400" rtl="0" eaLnBrk="1" latinLnBrk="0" hangingPunct="1">
        <a:spcBef>
          <a:spcPts val="600"/>
        </a:spcBef>
        <a:buSzPct val="90000"/>
        <a:buFontTx/>
        <a:buBlip>
          <a:blip r:embed="rId24"/>
        </a:buBlip>
        <a:defRPr sz="2000" kern="1200">
          <a:solidFill>
            <a:schemeClr val="tx1"/>
          </a:solidFill>
          <a:latin typeface="+mn-lt"/>
          <a:ea typeface="+mn-ea"/>
          <a:cs typeface="+mn-cs"/>
        </a:defRPr>
      </a:lvl3pPr>
      <a:lvl4pPr marL="1597025"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4pPr>
      <a:lvl5pPr marL="1938338"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5pPr>
      <a:lvl6pPr marL="2290763" indent="-344488" algn="l" defTabSz="914400" rtl="0" eaLnBrk="1" latinLnBrk="0" hangingPunct="1">
        <a:spcBef>
          <a:spcPct val="20000"/>
        </a:spcBef>
        <a:buSzPct val="90000"/>
        <a:buFontTx/>
        <a:buBlip>
          <a:blip r:embed="rId22"/>
        </a:buBlip>
        <a:defRPr lang="en-US" sz="1800" kern="1200" dirty="0" smtClean="0">
          <a:solidFill>
            <a:schemeClr val="tx1"/>
          </a:solidFill>
          <a:latin typeface="+mn-lt"/>
          <a:ea typeface="+mn-ea"/>
          <a:cs typeface="+mn-cs"/>
        </a:defRPr>
      </a:lvl6pPr>
      <a:lvl7pPr marL="2625725" indent="-344488" algn="l" defTabSz="914400" rtl="0" eaLnBrk="1" latinLnBrk="0" hangingPunct="1">
        <a:spcBef>
          <a:spcPct val="20000"/>
        </a:spcBef>
        <a:buSzPct val="90000"/>
        <a:buFontTx/>
        <a:buBlip>
          <a:blip r:embed="rId24"/>
        </a:buBlip>
        <a:defRPr lang="en-US" sz="1800" kern="1200" dirty="0" smtClean="0">
          <a:solidFill>
            <a:schemeClr val="tx1"/>
          </a:solidFill>
          <a:latin typeface="+mn-lt"/>
          <a:ea typeface="+mn-ea"/>
          <a:cs typeface="+mn-cs"/>
        </a:defRPr>
      </a:lvl7pPr>
      <a:lvl8pPr marL="2970213" indent="-344488" algn="l" defTabSz="914400" rtl="0" eaLnBrk="1" latinLnBrk="0" hangingPunct="1">
        <a:spcBef>
          <a:spcPct val="20000"/>
        </a:spcBef>
        <a:buSzPct val="90000"/>
        <a:buFontTx/>
        <a:buBlip>
          <a:blip r:embed="rId22"/>
        </a:buBlip>
        <a:defRPr lang="en-US" sz="1800" kern="1200" dirty="0" smtClean="0">
          <a:solidFill>
            <a:schemeClr val="tx1"/>
          </a:solidFill>
          <a:latin typeface="+mn-lt"/>
          <a:ea typeface="+mn-ea"/>
          <a:cs typeface="+mn-cs"/>
        </a:defRPr>
      </a:lvl8pPr>
      <a:lvl9pPr marL="3313113" indent="-344488" algn="l" defTabSz="914400" rtl="0" eaLnBrk="1" latinLnBrk="0" hangingPunct="1">
        <a:spcBef>
          <a:spcPct val="20000"/>
        </a:spcBef>
        <a:buSzPct val="90000"/>
        <a:buFontTx/>
        <a:buBlip>
          <a:blip r:embed="rId23"/>
        </a:buBlip>
        <a:defRPr lang="en-US" sz="18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sibaba193@gmail.com" TargetMode="Externa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cdp.sn/liste-des-formulair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90848" y="146520"/>
            <a:ext cx="7595952" cy="1351250"/>
          </a:xfrm>
        </p:spPr>
        <p:txBody>
          <a:bodyPr/>
          <a:lstStyle/>
          <a:p>
            <a:pPr algn="ctr"/>
            <a:r>
              <a:rPr lang="fr-FR" sz="4000" b="1" dirty="0" smtClean="0"/>
              <a:t>COURS INTRODUCTION AU DROIT DES Tics</a:t>
            </a:r>
            <a:endParaRPr lang="fr-FR" sz="4000" b="1" dirty="0"/>
          </a:p>
        </p:txBody>
      </p:sp>
      <p:sp>
        <p:nvSpPr>
          <p:cNvPr id="3" name="Sous-titre 2"/>
          <p:cNvSpPr>
            <a:spLocks noGrp="1"/>
          </p:cNvSpPr>
          <p:nvPr>
            <p:ph type="subTitle" idx="1"/>
          </p:nvPr>
        </p:nvSpPr>
        <p:spPr>
          <a:xfrm>
            <a:off x="4639358" y="5500024"/>
            <a:ext cx="3704714" cy="587412"/>
          </a:xfrm>
        </p:spPr>
        <p:txBody>
          <a:bodyPr/>
          <a:lstStyle/>
          <a:p>
            <a:pPr algn="r"/>
            <a:r>
              <a:rPr lang="fr-FR" dirty="0"/>
              <a:t>Email:  </a:t>
            </a:r>
            <a:r>
              <a:rPr lang="fr-FR" dirty="0" smtClean="0">
                <a:solidFill>
                  <a:srgbClr val="3366FF"/>
                </a:solidFill>
                <a:hlinkClick r:id="rId2" action="ppaction://hlinkfile"/>
              </a:rPr>
              <a:t>sibaba193@gmail.com</a:t>
            </a:r>
            <a:endParaRPr lang="fr-FR" dirty="0">
              <a:solidFill>
                <a:srgbClr val="3366FF"/>
              </a:solidFill>
            </a:endParaRPr>
          </a:p>
        </p:txBody>
      </p:sp>
      <p:sp>
        <p:nvSpPr>
          <p:cNvPr id="4" name="ZoneTexte 3"/>
          <p:cNvSpPr txBox="1"/>
          <p:nvPr/>
        </p:nvSpPr>
        <p:spPr>
          <a:xfrm>
            <a:off x="4424211" y="2227939"/>
            <a:ext cx="4278049" cy="800219"/>
          </a:xfrm>
          <a:prstGeom prst="rect">
            <a:avLst/>
          </a:prstGeom>
          <a:noFill/>
        </p:spPr>
        <p:txBody>
          <a:bodyPr wrap="square" rtlCol="0">
            <a:spAutoFit/>
          </a:bodyPr>
          <a:lstStyle/>
          <a:p>
            <a:r>
              <a:rPr lang="fr-FR" sz="2800" b="1" dirty="0" smtClean="0"/>
              <a:t>Ibrahima DIEDHIOU</a:t>
            </a:r>
          </a:p>
          <a:p>
            <a:endParaRPr lang="fr-FR" dirty="0"/>
          </a:p>
        </p:txBody>
      </p:sp>
      <p:sp>
        <p:nvSpPr>
          <p:cNvPr id="5" name="ZoneTexte 4"/>
          <p:cNvSpPr txBox="1"/>
          <p:nvPr/>
        </p:nvSpPr>
        <p:spPr>
          <a:xfrm>
            <a:off x="3937887" y="3038798"/>
            <a:ext cx="4764374" cy="1754327"/>
          </a:xfrm>
          <a:prstGeom prst="rect">
            <a:avLst/>
          </a:prstGeom>
          <a:noFill/>
        </p:spPr>
        <p:txBody>
          <a:bodyPr wrap="square" rtlCol="0">
            <a:spAutoFit/>
          </a:bodyPr>
          <a:lstStyle/>
          <a:p>
            <a:pPr algn="just"/>
            <a:r>
              <a:rPr lang="fr-FR" sz="2400" b="1" dirty="0">
                <a:latin typeface="Arial Black"/>
                <a:cs typeface="Arial Black"/>
              </a:rPr>
              <a:t>Juriste spécialisé en droit des TIC (Cyber-droit) </a:t>
            </a:r>
            <a:endParaRPr lang="fr-FR" sz="2400" b="1" dirty="0" smtClean="0">
              <a:latin typeface="Arial Black"/>
              <a:cs typeface="Arial Black"/>
            </a:endParaRPr>
          </a:p>
          <a:p>
            <a:pPr algn="just"/>
            <a:r>
              <a:rPr lang="fr-FR" sz="2000" b="1" dirty="0" smtClean="0"/>
              <a:t>Chercheur </a:t>
            </a:r>
            <a:r>
              <a:rPr lang="fr-FR" sz="2000" b="1" dirty="0"/>
              <a:t>à l'Ecole Doctorale des Sciences et Techniques des Sciences de la Société (EDSTSS) / </a:t>
            </a:r>
            <a:r>
              <a:rPr lang="fr-FR" sz="2000" b="1" dirty="0" smtClean="0"/>
              <a:t>(</a:t>
            </a:r>
            <a:r>
              <a:rPr lang="fr-FR" sz="2000" b="1" dirty="0"/>
              <a:t>UADB) </a:t>
            </a:r>
            <a:r>
              <a:rPr lang="fr-FR" sz="2000" b="1" dirty="0" smtClean="0"/>
              <a:t> </a:t>
            </a:r>
            <a:endParaRPr lang="fr-FR" sz="2000" b="1" dirty="0"/>
          </a:p>
        </p:txBody>
      </p:sp>
      <p:pic>
        <p:nvPicPr>
          <p:cNvPr id="10" name="Image 9" descr="IMG_20201013_150440~3.jpg"/>
          <p:cNvPicPr>
            <a:picLocks noChangeAspect="1"/>
          </p:cNvPicPr>
          <p:nvPr/>
        </p:nvPicPr>
        <p:blipFill>
          <a:blip r:embed="rId3">
            <a:extLst>
              <a:ext uri="{BEBA8EAE-BF5A-486C-A8C5-ECC9F3942E4B}">
                <a14:imgProps xmlns="" xmlns:a14="http://schemas.microsoft.com/office/drawing/2010/main">
                  <a14:imgLayer r:embed="rId4">
                    <a14:imgEffect>
                      <a14:backgroundRemoval t="3750" b="99750" l="0" r="99000"/>
                    </a14:imgEffect>
                  </a14:imgLayer>
                </a14:imgProps>
              </a:ext>
              <a:ext uri="{28A0092B-C50C-407E-A947-70E740481C1C}">
                <a14:useLocalDpi xmlns="" xmlns:a14="http://schemas.microsoft.com/office/drawing/2010/main" val="0"/>
              </a:ext>
            </a:extLst>
          </a:blip>
          <a:stretch>
            <a:fillRect/>
          </a:stretch>
        </p:blipFill>
        <p:spPr>
          <a:xfrm>
            <a:off x="0" y="1660572"/>
            <a:ext cx="3937886" cy="4791028"/>
          </a:xfrm>
          <a:prstGeom prst="foldedCorner">
            <a:avLst/>
          </a:prstGeom>
        </p:spPr>
      </p:pic>
    </p:spTree>
    <p:extLst>
      <p:ext uri="{BB962C8B-B14F-4D97-AF65-F5344CB8AC3E}">
        <p14:creationId xmlns="" xmlns:p14="http://schemas.microsoft.com/office/powerpoint/2010/main" val="19395993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193916"/>
            <a:ext cx="7313613" cy="868362"/>
          </a:xfrm>
        </p:spPr>
        <p:txBody>
          <a:bodyPr/>
          <a:lstStyle/>
          <a:p>
            <a:r>
              <a:rPr lang="fr-FR" dirty="0" smtClean="0"/>
              <a:t>PLAN DU COURS</a:t>
            </a:r>
            <a:endParaRPr lang="fr-FR" dirty="0"/>
          </a:p>
        </p:txBody>
      </p:sp>
      <p:sp>
        <p:nvSpPr>
          <p:cNvPr id="3" name="Espace réservé du contenu 2"/>
          <p:cNvSpPr>
            <a:spLocks noGrp="1"/>
          </p:cNvSpPr>
          <p:nvPr>
            <p:ph idx="1"/>
          </p:nvPr>
        </p:nvSpPr>
        <p:spPr>
          <a:xfrm>
            <a:off x="179095" y="1497771"/>
            <a:ext cx="8759353" cy="5046837"/>
          </a:xfrm>
        </p:spPr>
        <p:txBody>
          <a:bodyPr>
            <a:normAutofit/>
          </a:bodyPr>
          <a:lstStyle/>
          <a:p>
            <a:pPr marL="0" indent="0" algn="ctr">
              <a:lnSpc>
                <a:spcPct val="130000"/>
              </a:lnSpc>
              <a:buNone/>
            </a:pPr>
            <a:r>
              <a:rPr lang="fr-FR" b="1" dirty="0" smtClean="0"/>
              <a:t>INTRODUCTION</a:t>
            </a:r>
          </a:p>
          <a:p>
            <a:pPr marL="0" indent="0" algn="ctr">
              <a:lnSpc>
                <a:spcPct val="130000"/>
              </a:lnSpc>
              <a:buNone/>
            </a:pPr>
            <a:r>
              <a:rPr lang="fr-FR" b="1" u="sng" dirty="0"/>
              <a:t>CHAPITRE </a:t>
            </a:r>
            <a:r>
              <a:rPr lang="fr-FR" b="1" u="sng" dirty="0" smtClean="0"/>
              <a:t>I</a:t>
            </a:r>
            <a:r>
              <a:rPr lang="fr-FR" b="1" dirty="0" smtClean="0"/>
              <a:t> : LA </a:t>
            </a:r>
            <a:r>
              <a:rPr lang="fr-FR" b="1" dirty="0"/>
              <a:t>SOCIÉTÉ DE L’INFORMATION</a:t>
            </a:r>
          </a:p>
          <a:p>
            <a:pPr marL="0" indent="0" algn="ctr">
              <a:lnSpc>
                <a:spcPct val="130000"/>
              </a:lnSpc>
              <a:buNone/>
            </a:pPr>
            <a:r>
              <a:rPr lang="fr-FR" b="1" u="sng" dirty="0"/>
              <a:t>CHAPITRE </a:t>
            </a:r>
            <a:r>
              <a:rPr lang="fr-FR" b="1" u="sng" dirty="0" smtClean="0"/>
              <a:t>II</a:t>
            </a:r>
            <a:r>
              <a:rPr lang="fr-FR" b="1" dirty="0" smtClean="0"/>
              <a:t>   : LA </a:t>
            </a:r>
            <a:r>
              <a:rPr lang="fr-FR" b="1" dirty="0"/>
              <a:t>CYBERCRIMINALITE</a:t>
            </a:r>
          </a:p>
          <a:p>
            <a:pPr marL="0" indent="0" algn="ctr">
              <a:lnSpc>
                <a:spcPct val="130000"/>
              </a:lnSpc>
              <a:buNone/>
            </a:pPr>
            <a:r>
              <a:rPr lang="fr-FR" b="1" u="sng" dirty="0"/>
              <a:t>CHAPITRE </a:t>
            </a:r>
            <a:r>
              <a:rPr lang="fr-FR" b="1" u="sng" dirty="0" smtClean="0"/>
              <a:t>III </a:t>
            </a:r>
            <a:r>
              <a:rPr lang="fr-FR" b="1" dirty="0" smtClean="0"/>
              <a:t>  : LES DONNEES À CARACTERE PERSONNEL</a:t>
            </a:r>
            <a:r>
              <a:rPr lang="fr-FR" b="1" dirty="0"/>
              <a:t> </a:t>
            </a:r>
          </a:p>
          <a:p>
            <a:pPr marL="0" indent="0" algn="ctr">
              <a:lnSpc>
                <a:spcPct val="130000"/>
              </a:lnSpc>
              <a:buNone/>
            </a:pPr>
            <a:r>
              <a:rPr lang="fr-FR" b="1" u="sng" dirty="0"/>
              <a:t>CHAPITRE </a:t>
            </a:r>
            <a:r>
              <a:rPr lang="fr-FR" b="1" u="sng" dirty="0" smtClean="0"/>
              <a:t>IV</a:t>
            </a:r>
            <a:r>
              <a:rPr lang="fr-FR" b="1" dirty="0"/>
              <a:t> </a:t>
            </a:r>
            <a:r>
              <a:rPr lang="fr-FR" b="1" dirty="0" smtClean="0"/>
              <a:t> :  LA PROPRIÉTÉ INTELLECTUELLE</a:t>
            </a:r>
          </a:p>
          <a:p>
            <a:pPr marL="0" indent="0" algn="ctr">
              <a:lnSpc>
                <a:spcPct val="130000"/>
              </a:lnSpc>
              <a:buNone/>
            </a:pPr>
            <a:endParaRPr lang="en-GB" dirty="0"/>
          </a:p>
          <a:p>
            <a:pPr marL="0" indent="0" algn="ctr">
              <a:buNone/>
            </a:pPr>
            <a:endParaRPr lang="fr-FR" sz="2000" b="1" dirty="0" smtClean="0"/>
          </a:p>
          <a:p>
            <a:pPr marL="0" indent="0" algn="ctr">
              <a:buNone/>
            </a:pPr>
            <a:endParaRPr lang="en-GB" b="1" dirty="0" smtClean="0"/>
          </a:p>
          <a:p>
            <a:pPr marL="0" indent="0" algn="ctr">
              <a:buNone/>
            </a:pPr>
            <a:endParaRPr lang="fr-FR" b="1" dirty="0" smtClean="0"/>
          </a:p>
          <a:p>
            <a:pPr marL="0" indent="0" algn="ctr">
              <a:buNone/>
            </a:pPr>
            <a:endParaRPr lang="en-GB" dirty="0"/>
          </a:p>
          <a:p>
            <a:pPr marL="0" indent="0" algn="ctr">
              <a:buNone/>
            </a:pPr>
            <a:endParaRPr lang="fr-FR" b="1" dirty="0"/>
          </a:p>
        </p:txBody>
      </p:sp>
    </p:spTree>
    <p:extLst>
      <p:ext uri="{BB962C8B-B14F-4D97-AF65-F5344CB8AC3E}">
        <p14:creationId xmlns="" xmlns:p14="http://schemas.microsoft.com/office/powerpoint/2010/main" val="265331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168772"/>
            <a:ext cx="7313613" cy="668931"/>
          </a:xfrm>
        </p:spPr>
        <p:txBody>
          <a:bodyPr/>
          <a:lstStyle/>
          <a:p>
            <a:r>
              <a:rPr lang="fr-FR" sz="3200" b="1" dirty="0"/>
              <a:t>INTRODUCTION</a:t>
            </a:r>
          </a:p>
        </p:txBody>
      </p:sp>
      <p:sp>
        <p:nvSpPr>
          <p:cNvPr id="3" name="Espace réservé du contenu 2"/>
          <p:cNvSpPr>
            <a:spLocks noGrp="1"/>
          </p:cNvSpPr>
          <p:nvPr>
            <p:ph idx="1"/>
          </p:nvPr>
        </p:nvSpPr>
        <p:spPr>
          <a:xfrm>
            <a:off x="358190" y="1198849"/>
            <a:ext cx="8498852" cy="5144517"/>
          </a:xfrm>
        </p:spPr>
        <p:txBody>
          <a:bodyPr>
            <a:normAutofit/>
          </a:bodyPr>
          <a:lstStyle/>
          <a:p>
            <a:pPr marL="0" indent="0" algn="ctr">
              <a:buNone/>
            </a:pPr>
            <a:r>
              <a:rPr lang="fr-FR" sz="2800" b="1" dirty="0" smtClean="0"/>
              <a:t>Objectif</a:t>
            </a:r>
          </a:p>
          <a:p>
            <a:pPr marL="0" indent="0" algn="just">
              <a:buNone/>
            </a:pPr>
            <a:r>
              <a:rPr lang="fr-FR" dirty="0" smtClean="0"/>
              <a:t>Le </a:t>
            </a:r>
            <a:r>
              <a:rPr lang="fr-FR" dirty="0"/>
              <a:t>cours de droit des TIC a pour objectif d’appréhender les enjeux humains et sociaux liés au développement des TIC, c’est-à-dire  cerné l’impact de la manipulation de celle-ci sur la société et sur l’homme. </a:t>
            </a:r>
            <a:endParaRPr lang="fr-FR" dirty="0" smtClean="0"/>
          </a:p>
          <a:p>
            <a:pPr marL="0" indent="0" algn="just">
              <a:buNone/>
            </a:pPr>
            <a:r>
              <a:rPr lang="fr-FR" dirty="0"/>
              <a:t>C’est pourquoi d’ailleurs le cours est constitués de plusieurs </a:t>
            </a:r>
            <a:r>
              <a:rPr lang="fr-FR" dirty="0" smtClean="0"/>
              <a:t>thématiques:</a:t>
            </a:r>
          </a:p>
          <a:p>
            <a:pPr algn="just">
              <a:buFont typeface="Arial"/>
              <a:buChar char="•"/>
            </a:pPr>
            <a:r>
              <a:rPr lang="fr-FR" dirty="0" smtClean="0"/>
              <a:t>la </a:t>
            </a:r>
            <a:r>
              <a:rPr lang="fr-FR" dirty="0"/>
              <a:t>sécurité des personnes et des biens, </a:t>
            </a:r>
            <a:endParaRPr lang="fr-FR" dirty="0" smtClean="0"/>
          </a:p>
          <a:p>
            <a:pPr algn="just">
              <a:buFont typeface="Arial"/>
              <a:buChar char="•"/>
            </a:pPr>
            <a:r>
              <a:rPr lang="fr-FR" dirty="0" smtClean="0"/>
              <a:t>sur </a:t>
            </a:r>
            <a:r>
              <a:rPr lang="fr-FR" dirty="0"/>
              <a:t>la vie privé des personnes </a:t>
            </a:r>
            <a:endParaRPr lang="fr-FR" dirty="0" smtClean="0"/>
          </a:p>
          <a:p>
            <a:pPr algn="just">
              <a:buFont typeface="Arial"/>
              <a:buChar char="•"/>
            </a:pPr>
            <a:r>
              <a:rPr lang="fr-FR" dirty="0" smtClean="0"/>
              <a:t>mais </a:t>
            </a:r>
            <a:r>
              <a:rPr lang="fr-FR" dirty="0"/>
              <a:t>aussi sur des concepts favorisant le développement économique et social tels que les transactions électroniques. </a:t>
            </a:r>
          </a:p>
        </p:txBody>
      </p:sp>
    </p:spTree>
    <p:extLst>
      <p:ext uri="{BB962C8B-B14F-4D97-AF65-F5344CB8AC3E}">
        <p14:creationId xmlns="" xmlns:p14="http://schemas.microsoft.com/office/powerpoint/2010/main" val="3166430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57200" y="1633054"/>
            <a:ext cx="8285872" cy="5058076"/>
          </a:xfrm>
        </p:spPr>
        <p:txBody>
          <a:bodyPr/>
          <a:lstStyle/>
          <a:p>
            <a:pPr marL="342900" indent="-342900" algn="just">
              <a:lnSpc>
                <a:spcPct val="120000"/>
              </a:lnSpc>
              <a:buFont typeface="Wingdings" charset="2"/>
              <a:buChar char="q"/>
            </a:pPr>
            <a:r>
              <a:rPr lang="fr-FR" sz="2800" dirty="0"/>
              <a:t>L</a:t>
            </a:r>
            <a:r>
              <a:rPr lang="fr-FR" sz="2800" dirty="0" smtClean="0"/>
              <a:t>a </a:t>
            </a:r>
            <a:r>
              <a:rPr lang="fr-FR" sz="2800" dirty="0"/>
              <a:t>loi numéro 2008-10 du 25 janvier 2008 portant sur la société de l’information</a:t>
            </a:r>
            <a:r>
              <a:rPr lang="fr-FR" sz="2800" dirty="0" smtClean="0"/>
              <a:t>,</a:t>
            </a:r>
          </a:p>
          <a:p>
            <a:pPr marL="342900" indent="-342900" algn="just">
              <a:lnSpc>
                <a:spcPct val="120000"/>
              </a:lnSpc>
              <a:buFont typeface="Wingdings" charset="2"/>
              <a:buChar char="q"/>
            </a:pPr>
            <a:r>
              <a:rPr lang="fr-FR" sz="2800" dirty="0" smtClean="0">
                <a:solidFill>
                  <a:srgbClr val="FF0000"/>
                </a:solidFill>
              </a:rPr>
              <a:t>L</a:t>
            </a:r>
            <a:r>
              <a:rPr lang="fr-FR" sz="2800" b="1" dirty="0" smtClean="0">
                <a:solidFill>
                  <a:srgbClr val="FF0000"/>
                </a:solidFill>
              </a:rPr>
              <a:t>a </a:t>
            </a:r>
            <a:r>
              <a:rPr lang="fr-FR" sz="2800" b="1" dirty="0">
                <a:solidFill>
                  <a:srgbClr val="FF0000"/>
                </a:solidFill>
              </a:rPr>
              <a:t>loi numéro 2008-11 du 25 janvier 2008 portant sur la </a:t>
            </a:r>
            <a:r>
              <a:rPr lang="fr-FR" sz="2800" b="1" dirty="0" smtClean="0">
                <a:solidFill>
                  <a:srgbClr val="FF0000"/>
                </a:solidFill>
              </a:rPr>
              <a:t>cybercriminalité;</a:t>
            </a:r>
          </a:p>
          <a:p>
            <a:pPr marL="342900" indent="-342900" algn="just">
              <a:lnSpc>
                <a:spcPct val="120000"/>
              </a:lnSpc>
              <a:buFont typeface="Wingdings" charset="2"/>
              <a:buChar char="q"/>
            </a:pPr>
            <a:r>
              <a:rPr lang="fr-FR" sz="2800" dirty="0" smtClean="0"/>
              <a:t>La </a:t>
            </a:r>
            <a:r>
              <a:rPr lang="fr-FR" sz="2800" dirty="0"/>
              <a:t>loi numéro 2008-12 du 25 janvier 2008 portant sur la protection des données à caractères personnelles</a:t>
            </a:r>
            <a:r>
              <a:rPr lang="en-GB" sz="2800" dirty="0"/>
              <a:t> </a:t>
            </a:r>
            <a:endParaRPr lang="fr-FR" sz="2400" dirty="0" smtClean="0"/>
          </a:p>
          <a:p>
            <a:pPr marL="342900" indent="-342900" algn="just">
              <a:lnSpc>
                <a:spcPct val="120000"/>
              </a:lnSpc>
              <a:buFont typeface="Wingdings" charset="2"/>
              <a:buChar char="q"/>
            </a:pPr>
            <a:r>
              <a:rPr lang="en-GB" sz="2800" dirty="0"/>
              <a:t>La loi n° 2008-08 du 25 </a:t>
            </a:r>
            <a:r>
              <a:rPr lang="en-GB" sz="2800" dirty="0" err="1"/>
              <a:t>janvier</a:t>
            </a:r>
            <a:r>
              <a:rPr lang="en-GB" sz="2800" dirty="0"/>
              <a:t> 2008 </a:t>
            </a:r>
            <a:r>
              <a:rPr lang="en-GB" sz="2800" dirty="0" err="1" smtClean="0"/>
              <a:t>sur</a:t>
            </a:r>
            <a:r>
              <a:rPr lang="en-GB" sz="2800" dirty="0" smtClean="0"/>
              <a:t> </a:t>
            </a:r>
            <a:r>
              <a:rPr lang="en-GB" sz="2800" dirty="0"/>
              <a:t>les transactions </a:t>
            </a:r>
            <a:r>
              <a:rPr lang="en-GB" sz="2800" dirty="0" err="1" smtClean="0"/>
              <a:t>électroniques</a:t>
            </a:r>
            <a:r>
              <a:rPr lang="en-GB" sz="2800" dirty="0"/>
              <a:t>.</a:t>
            </a:r>
          </a:p>
          <a:p>
            <a:pPr marL="342900" indent="-342900">
              <a:buFont typeface="Wingdings" charset="2"/>
              <a:buChar char="q"/>
            </a:pPr>
            <a:endParaRPr lang="fr-FR" dirty="0"/>
          </a:p>
        </p:txBody>
      </p:sp>
      <p:sp>
        <p:nvSpPr>
          <p:cNvPr id="4" name="ZoneTexte 3"/>
          <p:cNvSpPr txBox="1"/>
          <p:nvPr/>
        </p:nvSpPr>
        <p:spPr>
          <a:xfrm>
            <a:off x="602409" y="504684"/>
            <a:ext cx="7627191" cy="954107"/>
          </a:xfrm>
          <a:prstGeom prst="rect">
            <a:avLst/>
          </a:prstGeom>
          <a:noFill/>
        </p:spPr>
        <p:txBody>
          <a:bodyPr wrap="square" rtlCol="0">
            <a:spAutoFit/>
          </a:bodyPr>
          <a:lstStyle/>
          <a:p>
            <a:r>
              <a:rPr lang="fr-FR" sz="2800" dirty="0"/>
              <a:t>Au Sénégal plusieurs textes ont été adoptés à partir de l’année </a:t>
            </a:r>
            <a:r>
              <a:rPr lang="fr-FR" sz="2800" dirty="0" smtClean="0"/>
              <a:t>2008 :</a:t>
            </a:r>
            <a:endParaRPr lang="fr-FR" sz="2800" dirty="0"/>
          </a:p>
        </p:txBody>
      </p:sp>
    </p:spTree>
    <p:extLst>
      <p:ext uri="{BB962C8B-B14F-4D97-AF65-F5344CB8AC3E}">
        <p14:creationId xmlns="" xmlns:p14="http://schemas.microsoft.com/office/powerpoint/2010/main" val="21395277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095" y="449008"/>
            <a:ext cx="8433727" cy="5379273"/>
          </a:xfrm>
        </p:spPr>
        <p:txBody>
          <a:bodyPr/>
          <a:lstStyle/>
          <a:p>
            <a:pPr marL="0" indent="0" algn="just">
              <a:buNone/>
            </a:pPr>
            <a:r>
              <a:rPr lang="fr-FR" sz="3200" dirty="0" smtClean="0"/>
              <a:t>Cependant, vers 2016 deux lois ont été adoptés en abrogation de </a:t>
            </a:r>
            <a:r>
              <a:rPr lang="fr-FR" sz="3200" dirty="0" smtClean="0">
                <a:solidFill>
                  <a:schemeClr val="accent1">
                    <a:lumMod val="60000"/>
                    <a:lumOff val="40000"/>
                  </a:schemeClr>
                </a:solidFill>
              </a:rPr>
              <a:t>la loi de 2008-11 portant sur la cybercriminalité</a:t>
            </a:r>
            <a:r>
              <a:rPr lang="fr-FR" sz="3200" dirty="0" smtClean="0"/>
              <a:t> :</a:t>
            </a:r>
          </a:p>
          <a:p>
            <a:pPr marL="0" indent="0" algn="just">
              <a:buNone/>
            </a:pPr>
            <a:endParaRPr lang="en-GB" dirty="0" smtClean="0"/>
          </a:p>
          <a:p>
            <a:pPr lvl="0"/>
            <a:r>
              <a:rPr lang="fr-FR" sz="2800" dirty="0" smtClean="0"/>
              <a:t>Loi n° 2016-29 du 08 novembre 2016 modifiant la loi n° 65-60 du 21 juillet 1965 portant code pénal ;</a:t>
            </a:r>
          </a:p>
          <a:p>
            <a:pPr lvl="0"/>
            <a:endParaRPr lang="en-GB" sz="2800" dirty="0" smtClean="0"/>
          </a:p>
          <a:p>
            <a:pPr lvl="0"/>
            <a:r>
              <a:rPr lang="fr-FR" sz="2800" dirty="0" smtClean="0"/>
              <a:t>Loi n° 2016-30 du 08 novembre 2016 modifiant la loi n° 65-60 du 21 juillet 1965 portant code pénal ;</a:t>
            </a:r>
            <a:endParaRPr lang="en-GB" sz="2800" dirty="0" smtClean="0"/>
          </a:p>
          <a:p>
            <a:pPr marL="0" indent="0">
              <a:buNone/>
            </a:pPr>
            <a:endParaRPr lang="fr-FR" dirty="0"/>
          </a:p>
        </p:txBody>
      </p:sp>
    </p:spTree>
    <p:extLst>
      <p:ext uri="{BB962C8B-B14F-4D97-AF65-F5344CB8AC3E}">
        <p14:creationId xmlns="" xmlns:p14="http://schemas.microsoft.com/office/powerpoint/2010/main" val="14529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9346" y="503238"/>
            <a:ext cx="8433726" cy="868362"/>
          </a:xfrm>
        </p:spPr>
        <p:txBody>
          <a:bodyPr/>
          <a:lstStyle/>
          <a:p>
            <a:r>
              <a:rPr lang="fr-FR" sz="3600" b="1" u="sng" dirty="0" smtClean="0"/>
              <a:t/>
            </a:r>
            <a:br>
              <a:rPr lang="fr-FR" sz="3600" b="1" u="sng" dirty="0" smtClean="0"/>
            </a:br>
            <a:r>
              <a:rPr lang="fr-FR" sz="3600" b="1" u="sng" dirty="0" smtClean="0"/>
              <a:t>Chapitre </a:t>
            </a:r>
            <a:r>
              <a:rPr lang="fr-FR" sz="3600" b="1" u="sng" dirty="0"/>
              <a:t>I</a:t>
            </a:r>
            <a:r>
              <a:rPr lang="fr-FR" sz="3600" b="1" dirty="0"/>
              <a:t> : La société de l’information</a:t>
            </a:r>
            <a:r>
              <a:rPr lang="en-GB" sz="4800" b="1" dirty="0"/>
              <a:t/>
            </a:r>
            <a:br>
              <a:rPr lang="en-GB" sz="4800" b="1" dirty="0"/>
            </a:br>
            <a:endParaRPr lang="fr-FR" dirty="0"/>
          </a:p>
        </p:txBody>
      </p:sp>
      <p:sp>
        <p:nvSpPr>
          <p:cNvPr id="3" name="Espace réservé du contenu 2"/>
          <p:cNvSpPr>
            <a:spLocks noGrp="1"/>
          </p:cNvSpPr>
          <p:nvPr>
            <p:ph idx="1"/>
          </p:nvPr>
        </p:nvSpPr>
        <p:spPr>
          <a:xfrm>
            <a:off x="309346" y="1371600"/>
            <a:ext cx="8547696" cy="5286969"/>
          </a:xfrm>
        </p:spPr>
        <p:txBody>
          <a:bodyPr>
            <a:normAutofit fontScale="85000" lnSpcReduction="20000"/>
          </a:bodyPr>
          <a:lstStyle/>
          <a:p>
            <a:pPr marL="0" indent="0" algn="just">
              <a:lnSpc>
                <a:spcPct val="150000"/>
              </a:lnSpc>
              <a:buNone/>
            </a:pPr>
            <a:r>
              <a:rPr lang="fr-FR" dirty="0"/>
              <a:t>L’article 3 de cette loi considère la société de l’information comme étant </a:t>
            </a:r>
            <a:r>
              <a:rPr lang="fr-FR" dirty="0" smtClean="0"/>
              <a:t>:</a:t>
            </a:r>
          </a:p>
          <a:p>
            <a:pPr marL="0" indent="0" algn="just">
              <a:lnSpc>
                <a:spcPct val="150000"/>
              </a:lnSpc>
              <a:buNone/>
            </a:pPr>
            <a:r>
              <a:rPr lang="fr-FR" dirty="0" smtClean="0"/>
              <a:t>« </a:t>
            </a:r>
            <a:r>
              <a:rPr lang="fr-FR" sz="3100" i="1" dirty="0" smtClean="0"/>
              <a:t>une </a:t>
            </a:r>
            <a:r>
              <a:rPr lang="fr-FR" sz="3100" i="1" dirty="0"/>
              <a:t>société à dimension humaine inclusive et solidaire ouverte, transparente et sécurisée qui œuvre dans le but d’accélérer le développement économique, social ainsi que culturel, de l’élimination de la pauvreté et de la modernisation de </a:t>
            </a:r>
            <a:r>
              <a:rPr lang="fr-FR" sz="3100" i="1" dirty="0" smtClean="0"/>
              <a:t>l’état</a:t>
            </a:r>
            <a:r>
              <a:rPr lang="fr-FR" dirty="0" smtClean="0"/>
              <a:t> ».</a:t>
            </a:r>
            <a:r>
              <a:rPr lang="en-GB" dirty="0" smtClean="0"/>
              <a:t> </a:t>
            </a:r>
            <a:endParaRPr lang="fr-FR" sz="2800" dirty="0"/>
          </a:p>
          <a:p>
            <a:pPr marL="0" indent="0" algn="just">
              <a:lnSpc>
                <a:spcPct val="150000"/>
              </a:lnSpc>
              <a:buNone/>
            </a:pPr>
            <a:r>
              <a:rPr lang="fr-FR" sz="2800" dirty="0" smtClean="0"/>
              <a:t>La </a:t>
            </a:r>
            <a:r>
              <a:rPr lang="fr-FR" sz="2800" dirty="0"/>
              <a:t>société de l’information est caractérisée par </a:t>
            </a:r>
            <a:r>
              <a:rPr lang="fr-FR" sz="2800" dirty="0" smtClean="0"/>
              <a:t>l’existence d’un </a:t>
            </a:r>
            <a:r>
              <a:rPr lang="fr-FR" sz="2800" dirty="0"/>
              <a:t>réseau de télécommunication et par l’utilisation croissante des technologies au sein de l’administration, chez les particuliers et dans les entreprises. </a:t>
            </a:r>
          </a:p>
        </p:txBody>
      </p:sp>
    </p:spTree>
    <p:extLst>
      <p:ext uri="{BB962C8B-B14F-4D97-AF65-F5344CB8AC3E}">
        <p14:creationId xmlns="" xmlns:p14="http://schemas.microsoft.com/office/powerpoint/2010/main" val="11601556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5877" y="472123"/>
            <a:ext cx="8336039" cy="5877123"/>
          </a:xfrm>
        </p:spPr>
        <p:txBody>
          <a:bodyPr/>
          <a:lstStyle/>
          <a:p>
            <a:pPr algn="just">
              <a:buFont typeface="Wingdings" charset="2"/>
              <a:buChar char="v"/>
            </a:pPr>
            <a:r>
              <a:rPr lang="fr-FR" dirty="0" smtClean="0"/>
              <a:t>Ce </a:t>
            </a:r>
            <a:r>
              <a:rPr lang="fr-FR" dirty="0"/>
              <a:t>texte détermine les bases juridiques et institutionnelles de ladite société en fixant le cadre  de mise en œuvre de l’ensemble du dispositif </a:t>
            </a:r>
            <a:r>
              <a:rPr lang="fr-FR" dirty="0" smtClean="0"/>
              <a:t>juridique;</a:t>
            </a:r>
          </a:p>
          <a:p>
            <a:pPr algn="just">
              <a:buFont typeface="Wingdings" charset="2"/>
              <a:buChar char="v"/>
            </a:pPr>
            <a:r>
              <a:rPr lang="fr-FR" dirty="0"/>
              <a:t>En outre il identifie ainsi les droits et responsabilités de divers acteurs en définissant les principes de financement de la société sénégalaise de </a:t>
            </a:r>
            <a:r>
              <a:rPr lang="fr-FR" dirty="0" smtClean="0"/>
              <a:t>l’information</a:t>
            </a:r>
            <a:r>
              <a:rPr lang="en-GB" dirty="0" smtClean="0"/>
              <a:t>;</a:t>
            </a:r>
          </a:p>
          <a:p>
            <a:pPr algn="just">
              <a:buFont typeface="Wingdings" charset="2"/>
              <a:buChar char="v"/>
            </a:pPr>
            <a:r>
              <a:rPr lang="fr-FR" dirty="0"/>
              <a:t>Enfin, ce texte consacre les principes fondamentaux qui constituent les bases éthiques sur lesquelles reposes la société de l’information</a:t>
            </a:r>
            <a:r>
              <a:rPr lang="en-GB" dirty="0"/>
              <a:t> </a:t>
            </a:r>
            <a:endParaRPr lang="fr-FR" dirty="0" smtClean="0"/>
          </a:p>
          <a:p>
            <a:pPr algn="just">
              <a:buFont typeface="Wingdings" charset="2"/>
              <a:buChar char="v"/>
            </a:pPr>
            <a:r>
              <a:rPr lang="fr-FR" dirty="0"/>
              <a:t>Il faut aussi préciser que dans la société de l’information, chaque individu a le droit et la liberté de créer, d’obtenir d’utiliser et de partager l’information dans le respect de la loi et des règlements en vigueur</a:t>
            </a:r>
            <a:r>
              <a:rPr lang="en-GB" dirty="0"/>
              <a:t> </a:t>
            </a:r>
            <a:endParaRPr lang="fr-FR" dirty="0" smtClean="0"/>
          </a:p>
          <a:p>
            <a:pPr marL="0" indent="0">
              <a:buNone/>
            </a:pPr>
            <a:endParaRPr lang="fr-FR" dirty="0"/>
          </a:p>
        </p:txBody>
      </p:sp>
    </p:spTree>
    <p:extLst>
      <p:ext uri="{BB962C8B-B14F-4D97-AF65-F5344CB8AC3E}">
        <p14:creationId xmlns="" xmlns:p14="http://schemas.microsoft.com/office/powerpoint/2010/main" val="40360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220" y="191418"/>
            <a:ext cx="8515134" cy="864293"/>
          </a:xfrm>
        </p:spPr>
        <p:txBody>
          <a:bodyPr/>
          <a:lstStyle/>
          <a:p>
            <a:r>
              <a:rPr lang="fr-FR" sz="3600" b="1" u="sng" dirty="0" smtClean="0"/>
              <a:t>Chapitre II-</a:t>
            </a:r>
            <a:r>
              <a:rPr lang="fr-FR" sz="3600" b="1" dirty="0" smtClean="0"/>
              <a:t>  La cybercriminalité</a:t>
            </a:r>
            <a:r>
              <a:rPr lang="en-GB" sz="3600" b="1" dirty="0" smtClean="0"/>
              <a:t/>
            </a:r>
            <a:br>
              <a:rPr lang="en-GB" sz="3600" b="1" dirty="0" smtClean="0"/>
            </a:br>
            <a:endParaRPr lang="fr-FR" sz="2400" dirty="0"/>
          </a:p>
        </p:txBody>
      </p:sp>
      <p:sp>
        <p:nvSpPr>
          <p:cNvPr id="3" name="Espace réservé du contenu 2"/>
          <p:cNvSpPr>
            <a:spLocks noGrp="1"/>
          </p:cNvSpPr>
          <p:nvPr>
            <p:ph idx="1"/>
          </p:nvPr>
        </p:nvSpPr>
        <p:spPr>
          <a:xfrm>
            <a:off x="227726" y="1055711"/>
            <a:ext cx="8515134" cy="5635417"/>
          </a:xfrm>
        </p:spPr>
        <p:txBody>
          <a:bodyPr/>
          <a:lstStyle/>
          <a:p>
            <a:pPr marL="0" indent="0" algn="just">
              <a:lnSpc>
                <a:spcPct val="130000"/>
              </a:lnSpc>
              <a:buNone/>
            </a:pPr>
            <a:r>
              <a:rPr lang="fr-FR" b="1" dirty="0">
                <a:solidFill>
                  <a:srgbClr val="FF0000"/>
                </a:solidFill>
              </a:rPr>
              <a:t>Définition de la cybercriminalité</a:t>
            </a:r>
            <a:endParaRPr lang="fr-FR" b="1" dirty="0" smtClean="0">
              <a:solidFill>
                <a:srgbClr val="FF0000"/>
              </a:solidFill>
            </a:endParaRPr>
          </a:p>
          <a:p>
            <a:pPr marL="0" indent="0" algn="just">
              <a:lnSpc>
                <a:spcPct val="130000"/>
              </a:lnSpc>
              <a:buNone/>
            </a:pPr>
            <a:r>
              <a:rPr lang="fr-FR" dirty="0"/>
              <a:t>S</a:t>
            </a:r>
            <a:r>
              <a:rPr lang="fr-FR" dirty="0" smtClean="0"/>
              <a:t>elon </a:t>
            </a:r>
            <a:r>
              <a:rPr lang="fr-FR" dirty="0"/>
              <a:t>la loi, la criminalité informatique concerne toute infraction qui implique l’utilisation des technologies de l’information et de la communication. </a:t>
            </a:r>
          </a:p>
          <a:p>
            <a:pPr marL="0" indent="0" algn="just">
              <a:lnSpc>
                <a:spcPct val="130000"/>
              </a:lnSpc>
              <a:buNone/>
            </a:pPr>
            <a:r>
              <a:rPr lang="fr-FR" dirty="0"/>
              <a:t>A cet égard, les notions de cybercriminalité, de criminalité informatique, de cyber criminelle ou cyber crimes, de délinquance informatique, de criminalité de hautes technologies, etc. ont la même signification.</a:t>
            </a:r>
          </a:p>
          <a:p>
            <a:pPr marL="0" indent="0" algn="just">
              <a:lnSpc>
                <a:spcPct val="130000"/>
              </a:lnSpc>
              <a:buNone/>
            </a:pPr>
            <a:r>
              <a:rPr lang="fr-FR" dirty="0"/>
              <a:t>Il était nécessaire d’élaborer au Sénégal une </a:t>
            </a:r>
            <a:r>
              <a:rPr lang="fr-FR" dirty="0" err="1"/>
              <a:t>cyberstratégie</a:t>
            </a:r>
            <a:r>
              <a:rPr lang="fr-FR" dirty="0"/>
              <a:t> de traitement de la cybercriminalité.</a:t>
            </a:r>
          </a:p>
          <a:p>
            <a:pPr marL="0" indent="0">
              <a:buNone/>
            </a:pPr>
            <a:endParaRPr lang="fr-FR" dirty="0"/>
          </a:p>
        </p:txBody>
      </p:sp>
    </p:spTree>
    <p:extLst>
      <p:ext uri="{BB962C8B-B14F-4D97-AF65-F5344CB8AC3E}">
        <p14:creationId xmlns="" xmlns:p14="http://schemas.microsoft.com/office/powerpoint/2010/main" val="14172549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1243255" y="1187674"/>
            <a:ext cx="7564675" cy="5328043"/>
          </a:xfrm>
        </p:spPr>
        <p:txBody>
          <a:bodyPr>
            <a:normAutofit fontScale="92500" lnSpcReduction="10000"/>
          </a:bodyPr>
          <a:lstStyle/>
          <a:p>
            <a:pPr algn="just">
              <a:lnSpc>
                <a:spcPct val="140000"/>
              </a:lnSpc>
            </a:pPr>
            <a:r>
              <a:rPr lang="fr-FR" sz="3200" dirty="0"/>
              <a:t>C</a:t>
            </a:r>
            <a:r>
              <a:rPr lang="fr-FR" sz="3200" dirty="0" smtClean="0"/>
              <a:t>ybercriminalité est caractérisé </a:t>
            </a:r>
            <a:r>
              <a:rPr lang="fr-FR" sz="3200" dirty="0"/>
              <a:t>par </a:t>
            </a:r>
            <a:r>
              <a:rPr lang="fr-FR" sz="3200" dirty="0" smtClean="0"/>
              <a:t>sa:</a:t>
            </a:r>
          </a:p>
          <a:p>
            <a:pPr marL="457200" indent="-457200" algn="just">
              <a:lnSpc>
                <a:spcPct val="140000"/>
              </a:lnSpc>
              <a:buFont typeface="Arial"/>
              <a:buChar char="•"/>
            </a:pPr>
            <a:r>
              <a:rPr lang="fr-FR" sz="3000" b="1" dirty="0" err="1" smtClean="0">
                <a:solidFill>
                  <a:srgbClr val="FF0000"/>
                </a:solidFill>
              </a:rPr>
              <a:t>Transnationalité</a:t>
            </a:r>
            <a:r>
              <a:rPr lang="fr-FR" sz="3000" b="1" dirty="0" smtClean="0">
                <a:solidFill>
                  <a:srgbClr val="FF0000"/>
                </a:solidFill>
              </a:rPr>
              <a:t> ;</a:t>
            </a:r>
            <a:endParaRPr lang="fr-FR" sz="3000" b="1" dirty="0">
              <a:solidFill>
                <a:srgbClr val="FF0000"/>
              </a:solidFill>
            </a:endParaRPr>
          </a:p>
          <a:p>
            <a:pPr marL="457200" indent="-457200" algn="just">
              <a:lnSpc>
                <a:spcPct val="140000"/>
              </a:lnSpc>
              <a:buFont typeface="Arial"/>
              <a:buChar char="•"/>
            </a:pPr>
            <a:r>
              <a:rPr lang="fr-FR" sz="3000" b="1" dirty="0">
                <a:solidFill>
                  <a:srgbClr val="FF0000"/>
                </a:solidFill>
              </a:rPr>
              <a:t>son </a:t>
            </a:r>
            <a:r>
              <a:rPr lang="fr-FR" sz="3000" b="1" dirty="0" smtClean="0">
                <a:solidFill>
                  <a:srgbClr val="FF0000"/>
                </a:solidFill>
              </a:rPr>
              <a:t>immatérialité ;</a:t>
            </a:r>
            <a:endParaRPr lang="fr-FR" sz="3000" b="1" dirty="0">
              <a:solidFill>
                <a:srgbClr val="FF0000"/>
              </a:solidFill>
            </a:endParaRPr>
          </a:p>
          <a:p>
            <a:pPr marL="457200" indent="-457200" algn="just">
              <a:lnSpc>
                <a:spcPct val="140000"/>
              </a:lnSpc>
              <a:buFont typeface="Arial"/>
              <a:buChar char="•"/>
            </a:pPr>
            <a:r>
              <a:rPr lang="fr-FR" sz="3000" b="1" dirty="0">
                <a:solidFill>
                  <a:srgbClr val="FF0000"/>
                </a:solidFill>
              </a:rPr>
              <a:t>sa volatilité ;</a:t>
            </a:r>
            <a:endParaRPr lang="fr-FR" sz="3000" b="1" dirty="0" smtClean="0">
              <a:solidFill>
                <a:srgbClr val="FF0000"/>
              </a:solidFill>
            </a:endParaRPr>
          </a:p>
          <a:p>
            <a:pPr marL="457200" indent="-457200" algn="just">
              <a:lnSpc>
                <a:spcPct val="140000"/>
              </a:lnSpc>
              <a:buFont typeface="Arial"/>
              <a:buChar char="•"/>
            </a:pPr>
            <a:r>
              <a:rPr lang="fr-FR" sz="3000" b="1" dirty="0" smtClean="0">
                <a:solidFill>
                  <a:srgbClr val="FF0000"/>
                </a:solidFill>
              </a:rPr>
              <a:t>Et </a:t>
            </a:r>
            <a:r>
              <a:rPr lang="fr-FR" sz="3200" b="1" dirty="0" smtClean="0">
                <a:solidFill>
                  <a:srgbClr val="FF0000"/>
                </a:solidFill>
              </a:rPr>
              <a:t>l’anonymat des acteurs;</a:t>
            </a:r>
          </a:p>
          <a:p>
            <a:pPr algn="just">
              <a:lnSpc>
                <a:spcPct val="140000"/>
              </a:lnSpc>
            </a:pPr>
            <a:r>
              <a:rPr lang="fr-FR" sz="3200" dirty="0" smtClean="0"/>
              <a:t>Cela contribué </a:t>
            </a:r>
            <a:r>
              <a:rPr lang="fr-FR" sz="3200" dirty="0"/>
              <a:t>à brouiller les repères du système pénal dont les réponses traditionnelles et permanentes, conçues et élaborées pour un environnement matérialisé et national</a:t>
            </a:r>
          </a:p>
          <a:p>
            <a:pPr algn="just">
              <a:lnSpc>
                <a:spcPct val="140000"/>
              </a:lnSpc>
            </a:pPr>
            <a:endParaRPr lang="fr-FR" sz="3200" dirty="0"/>
          </a:p>
        </p:txBody>
      </p:sp>
      <p:sp>
        <p:nvSpPr>
          <p:cNvPr id="4" name="ZoneTexte 3"/>
          <p:cNvSpPr txBox="1"/>
          <p:nvPr/>
        </p:nvSpPr>
        <p:spPr>
          <a:xfrm>
            <a:off x="643276" y="371963"/>
            <a:ext cx="7125516" cy="584776"/>
          </a:xfrm>
          <a:prstGeom prst="rect">
            <a:avLst/>
          </a:prstGeom>
          <a:noFill/>
        </p:spPr>
        <p:txBody>
          <a:bodyPr wrap="square" rtlCol="0">
            <a:spAutoFit/>
          </a:bodyPr>
          <a:lstStyle/>
          <a:p>
            <a:r>
              <a:rPr lang="fr-FR" sz="3200" b="1" dirty="0" smtClean="0"/>
              <a:t>Caractéristique de la cybercriminalité</a:t>
            </a:r>
            <a:endParaRPr lang="fr-FR" sz="3200" b="1" dirty="0"/>
          </a:p>
        </p:txBody>
      </p:sp>
    </p:spTree>
    <p:extLst>
      <p:ext uri="{BB962C8B-B14F-4D97-AF65-F5344CB8AC3E}">
        <p14:creationId xmlns="" xmlns:p14="http://schemas.microsoft.com/office/powerpoint/2010/main" val="1785464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8448" y="478369"/>
            <a:ext cx="8708964" cy="6070341"/>
          </a:xfrm>
        </p:spPr>
        <p:txBody>
          <a:bodyPr>
            <a:normAutofit fontScale="92500"/>
          </a:bodyPr>
          <a:lstStyle/>
          <a:p>
            <a:pPr marL="0" indent="0">
              <a:buNone/>
            </a:pPr>
            <a:r>
              <a:rPr lang="fr-FR" sz="3200" dirty="0"/>
              <a:t>La modernisation des instruments de répression :</a:t>
            </a:r>
          </a:p>
          <a:p>
            <a:pPr marL="0" indent="0" algn="just">
              <a:buNone/>
            </a:pPr>
            <a:r>
              <a:rPr lang="fr-FR" sz="3200" dirty="0"/>
              <a:t>Cette modernisation a eu pour objectif de remédier aux:</a:t>
            </a:r>
          </a:p>
          <a:p>
            <a:pPr algn="just">
              <a:buFont typeface="Arial"/>
              <a:buChar char="•"/>
            </a:pPr>
            <a:r>
              <a:rPr lang="fr-FR" sz="3200" dirty="0"/>
              <a:t> situations de vide juridique (</a:t>
            </a:r>
            <a:r>
              <a:rPr lang="fr-FR" sz="3200" b="1" dirty="0">
                <a:solidFill>
                  <a:srgbClr val="F3302F"/>
                </a:solidFill>
              </a:rPr>
              <a:t>obliger de juger, </a:t>
            </a:r>
            <a:r>
              <a:rPr lang="fr-FR" sz="3200" b="1" dirty="0" err="1">
                <a:solidFill>
                  <a:srgbClr val="F3302F"/>
                </a:solidFill>
              </a:rPr>
              <a:t>imprévu</a:t>
            </a:r>
            <a:r>
              <a:rPr lang="fr-FR" sz="3200" dirty="0"/>
              <a:t>) </a:t>
            </a:r>
          </a:p>
          <a:p>
            <a:pPr algn="just">
              <a:buFont typeface="Arial"/>
              <a:buChar char="•"/>
            </a:pPr>
            <a:r>
              <a:rPr lang="fr-FR" sz="3200" dirty="0"/>
              <a:t>ou tout simplement à l’inadaptation des règles de droit pénal classique.</a:t>
            </a:r>
          </a:p>
          <a:p>
            <a:pPr marL="0" indent="0" algn="just">
              <a:lnSpc>
                <a:spcPct val="140000"/>
              </a:lnSpc>
              <a:buNone/>
            </a:pPr>
            <a:r>
              <a:rPr lang="fr-FR" sz="3200" dirty="0"/>
              <a:t> C’est pourquoi le législateur sénégalais a dû recourir à l’adoption d’incrimination nouvel spécifique aux TIC mais à l’adaptions des infractions classiques aux TIC. </a:t>
            </a:r>
          </a:p>
          <a:p>
            <a:pPr marL="0" indent="0">
              <a:buNone/>
            </a:pPr>
            <a:endParaRPr lang="fr-FR" dirty="0"/>
          </a:p>
        </p:txBody>
      </p:sp>
    </p:spTree>
    <p:extLst>
      <p:ext uri="{BB962C8B-B14F-4D97-AF65-F5344CB8AC3E}">
        <p14:creationId xmlns="" xmlns:p14="http://schemas.microsoft.com/office/powerpoint/2010/main" val="2370565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39564"/>
            <a:ext cx="6462364" cy="358162"/>
          </a:xfrm>
        </p:spPr>
        <p:txBody>
          <a:bodyPr/>
          <a:lstStyle/>
          <a:p>
            <a:r>
              <a:rPr lang="fr-FR" sz="2400" dirty="0"/>
              <a:t>La modernisation des instruments de répression </a:t>
            </a:r>
          </a:p>
        </p:txBody>
      </p:sp>
      <p:sp>
        <p:nvSpPr>
          <p:cNvPr id="3" name="Espace réservé du texte 2"/>
          <p:cNvSpPr>
            <a:spLocks noGrp="1"/>
          </p:cNvSpPr>
          <p:nvPr>
            <p:ph type="body" idx="1"/>
          </p:nvPr>
        </p:nvSpPr>
        <p:spPr>
          <a:xfrm>
            <a:off x="457200" y="1204729"/>
            <a:ext cx="7829995" cy="5193357"/>
          </a:xfrm>
        </p:spPr>
        <p:txBody>
          <a:bodyPr/>
          <a:lstStyle/>
          <a:p>
            <a:pPr algn="just">
              <a:lnSpc>
                <a:spcPct val="130000"/>
              </a:lnSpc>
            </a:pPr>
            <a:r>
              <a:rPr lang="fr-FR" dirty="0" smtClean="0"/>
              <a:t>Elle </a:t>
            </a:r>
            <a:r>
              <a:rPr lang="fr-FR" dirty="0"/>
              <a:t>varie, en effet,  suivant que les TIC sont </a:t>
            </a:r>
            <a:endParaRPr lang="fr-FR" dirty="0" smtClean="0"/>
          </a:p>
          <a:p>
            <a:pPr marL="342900" indent="-342900" algn="just">
              <a:lnSpc>
                <a:spcPct val="130000"/>
              </a:lnSpc>
              <a:buFont typeface="Wingdings" charset="2"/>
              <a:buChar char="§"/>
            </a:pPr>
            <a:r>
              <a:rPr lang="fr-FR" b="1" dirty="0"/>
              <a:t>u</a:t>
            </a:r>
            <a:r>
              <a:rPr lang="fr-FR" b="1" dirty="0" smtClean="0"/>
              <a:t>n </a:t>
            </a:r>
            <a:r>
              <a:rPr lang="fr-FR" b="1" dirty="0"/>
              <a:t>objet de commission d’infractions (Section I) </a:t>
            </a:r>
            <a:endParaRPr lang="fr-FR" b="1" dirty="0" smtClean="0"/>
          </a:p>
          <a:p>
            <a:pPr marL="342900" indent="-342900" algn="just">
              <a:lnSpc>
                <a:spcPct val="130000"/>
              </a:lnSpc>
              <a:buFont typeface="Wingdings" charset="2"/>
              <a:buChar char="§"/>
            </a:pPr>
            <a:r>
              <a:rPr lang="fr-FR" b="1" dirty="0"/>
              <a:t>I</a:t>
            </a:r>
            <a:r>
              <a:rPr lang="fr-FR" b="1" dirty="0" smtClean="0"/>
              <a:t>nstrument </a:t>
            </a:r>
            <a:r>
              <a:rPr lang="fr-FR" b="1" dirty="0"/>
              <a:t>de réalisation de délits (Section II)</a:t>
            </a:r>
            <a:r>
              <a:rPr lang="fr-FR" b="1" dirty="0" smtClean="0"/>
              <a:t>.</a:t>
            </a:r>
          </a:p>
          <a:p>
            <a:pPr marL="342900" indent="-342900" algn="just">
              <a:lnSpc>
                <a:spcPct val="130000"/>
              </a:lnSpc>
              <a:buFont typeface="Wingdings" charset="2"/>
              <a:buChar char="§"/>
            </a:pPr>
            <a:endParaRPr lang="en-GB" b="1" dirty="0"/>
          </a:p>
          <a:p>
            <a:pPr algn="ctr"/>
            <a:r>
              <a:rPr lang="fr-FR" sz="2800" b="1" dirty="0" smtClean="0">
                <a:solidFill>
                  <a:srgbClr val="0000FF"/>
                </a:solidFill>
              </a:rPr>
              <a:t>SECTION I : </a:t>
            </a:r>
            <a:r>
              <a:rPr lang="fr-FR" sz="2800" b="1" dirty="0">
                <a:solidFill>
                  <a:srgbClr val="0000FF"/>
                </a:solidFill>
              </a:rPr>
              <a:t>Les TIC : </a:t>
            </a:r>
            <a:r>
              <a:rPr lang="fr-FR" sz="2800" b="1" dirty="0" smtClean="0">
                <a:solidFill>
                  <a:srgbClr val="0000FF"/>
                </a:solidFill>
              </a:rPr>
              <a:t> </a:t>
            </a:r>
            <a:r>
              <a:rPr lang="fr-FR" sz="2800" b="1" dirty="0">
                <a:solidFill>
                  <a:srgbClr val="0000FF"/>
                </a:solidFill>
              </a:rPr>
              <a:t>objet de commission </a:t>
            </a:r>
            <a:r>
              <a:rPr lang="fr-FR" sz="2800" b="1" dirty="0" smtClean="0">
                <a:solidFill>
                  <a:srgbClr val="0000FF"/>
                </a:solidFill>
              </a:rPr>
              <a:t>d’infractions</a:t>
            </a:r>
          </a:p>
          <a:p>
            <a:pPr algn="ctr"/>
            <a:r>
              <a:rPr lang="fr-FR" sz="2800" b="1" dirty="0"/>
              <a:t>A- L’adoption d’incriminations nouvelles spécifiques aux tics</a:t>
            </a:r>
            <a:r>
              <a:rPr lang="en-GB" sz="2800" b="1" dirty="0"/>
              <a:t> </a:t>
            </a:r>
          </a:p>
          <a:p>
            <a:pPr algn="just"/>
            <a:endParaRPr lang="en-GB" sz="2800" dirty="0" smtClean="0"/>
          </a:p>
          <a:p>
            <a:pPr algn="just"/>
            <a:r>
              <a:rPr lang="fr-FR" sz="2800" b="1" dirty="0"/>
              <a:t>B- L’adaptation des incriminations classiques aux tics</a:t>
            </a:r>
          </a:p>
          <a:p>
            <a:pPr algn="just"/>
            <a:endParaRPr lang="en-GB" sz="2800" dirty="0"/>
          </a:p>
        </p:txBody>
      </p:sp>
    </p:spTree>
    <p:extLst>
      <p:ext uri="{BB962C8B-B14F-4D97-AF65-F5344CB8AC3E}">
        <p14:creationId xmlns="" xmlns:p14="http://schemas.microsoft.com/office/powerpoint/2010/main" val="37129443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162801"/>
            <a:ext cx="7313613" cy="993087"/>
          </a:xfrm>
        </p:spPr>
        <p:txBody>
          <a:bodyPr/>
          <a:lstStyle/>
          <a:p>
            <a:r>
              <a:rPr lang="fr-FR" sz="3600" dirty="0" smtClean="0"/>
              <a:t/>
            </a:r>
            <a:br>
              <a:rPr lang="fr-FR" sz="3600" dirty="0" smtClean="0"/>
            </a:br>
            <a:r>
              <a:rPr lang="fr-FR" sz="3600" dirty="0" smtClean="0"/>
              <a:t>A- </a:t>
            </a:r>
            <a:r>
              <a:rPr lang="fr-FR" sz="3200" b="1" dirty="0" smtClean="0"/>
              <a:t>L’adoption </a:t>
            </a:r>
            <a:r>
              <a:rPr lang="fr-FR" sz="3200" b="1" dirty="0"/>
              <a:t>d’incriminations nouvelles spécifiques aux tics</a:t>
            </a:r>
            <a:r>
              <a:rPr lang="en-GB" sz="3200" b="1" dirty="0"/>
              <a:t> </a:t>
            </a:r>
            <a:r>
              <a:rPr lang="en-GB" sz="4800" dirty="0"/>
              <a:t/>
            </a:r>
            <a:br>
              <a:rPr lang="en-GB" sz="4800" dirty="0"/>
            </a:br>
            <a:endParaRPr lang="fr-FR" dirty="0"/>
          </a:p>
        </p:txBody>
      </p:sp>
      <p:sp>
        <p:nvSpPr>
          <p:cNvPr id="3" name="Espace réservé du contenu 2"/>
          <p:cNvSpPr>
            <a:spLocks noGrp="1"/>
          </p:cNvSpPr>
          <p:nvPr>
            <p:ph idx="1"/>
          </p:nvPr>
        </p:nvSpPr>
        <p:spPr>
          <a:xfrm>
            <a:off x="521002" y="1371599"/>
            <a:ext cx="8319758" cy="5075327"/>
          </a:xfrm>
        </p:spPr>
        <p:txBody>
          <a:bodyPr/>
          <a:lstStyle/>
          <a:p>
            <a:pPr marL="0" indent="0">
              <a:buNone/>
            </a:pPr>
            <a:r>
              <a:rPr lang="fr-FR" sz="2800" b="1" dirty="0">
                <a:solidFill>
                  <a:srgbClr val="0000FF"/>
                </a:solidFill>
              </a:rPr>
              <a:t>1- La protection pénale des systèmes </a:t>
            </a:r>
            <a:r>
              <a:rPr lang="fr-FR" sz="2800" b="1" dirty="0" smtClean="0">
                <a:solidFill>
                  <a:srgbClr val="0000FF"/>
                </a:solidFill>
              </a:rPr>
              <a:t>informatiques</a:t>
            </a:r>
          </a:p>
          <a:p>
            <a:pPr lvl="0"/>
            <a:r>
              <a:rPr lang="fr-FR" b="1" i="1" dirty="0">
                <a:solidFill>
                  <a:srgbClr val="FF0000"/>
                </a:solidFill>
              </a:rPr>
              <a:t>Les atteintes au système informatique</a:t>
            </a:r>
            <a:endParaRPr lang="fr-FR" i="1" dirty="0">
              <a:solidFill>
                <a:srgbClr val="FF0000"/>
              </a:solidFill>
            </a:endParaRPr>
          </a:p>
          <a:p>
            <a:pPr marL="0" indent="0">
              <a:buNone/>
            </a:pPr>
            <a:r>
              <a:rPr lang="fr-FR" dirty="0"/>
              <a:t>Les législations modernes protègent la confidentialité, l’intégrité et la disponibilité des systèmes informatiques</a:t>
            </a:r>
            <a:r>
              <a:rPr lang="fr-FR" dirty="0" smtClean="0"/>
              <a:t>.</a:t>
            </a:r>
          </a:p>
          <a:p>
            <a:pPr lvl="0">
              <a:buFont typeface="Wingdings" charset="2"/>
              <a:buChar char=""/>
            </a:pPr>
            <a:r>
              <a:rPr lang="fr-FR" b="1" dirty="0"/>
              <a:t>Les atteintes à la confidentialité des systèmes informatiques</a:t>
            </a:r>
            <a:endParaRPr lang="fr-FR" dirty="0"/>
          </a:p>
          <a:p>
            <a:pPr marL="0" indent="0" algn="just">
              <a:buNone/>
            </a:pPr>
            <a:r>
              <a:rPr lang="fr-FR" dirty="0"/>
              <a:t>La confidentialité des systèmes informatiques est garantie par deux infractions </a:t>
            </a:r>
            <a:r>
              <a:rPr lang="fr-FR" dirty="0" smtClean="0"/>
              <a:t>:</a:t>
            </a:r>
          </a:p>
          <a:p>
            <a:pPr algn="just">
              <a:buFont typeface="Wingdings" charset="2"/>
              <a:buChar char="ü"/>
            </a:pPr>
            <a:r>
              <a:rPr lang="fr-FR" dirty="0" smtClean="0"/>
              <a:t> </a:t>
            </a:r>
            <a:r>
              <a:rPr lang="fr-FR" dirty="0"/>
              <a:t>l’accès frauduleux </a:t>
            </a:r>
          </a:p>
          <a:p>
            <a:pPr algn="just">
              <a:buFont typeface="Wingdings" charset="2"/>
              <a:buChar char="ü"/>
            </a:pPr>
            <a:r>
              <a:rPr lang="fr-FR" dirty="0" smtClean="0"/>
              <a:t>le </a:t>
            </a:r>
            <a:r>
              <a:rPr lang="fr-FR" dirty="0"/>
              <a:t>maintien frauduleux dans un système informatique </a:t>
            </a:r>
            <a:endParaRPr lang="fr-FR" dirty="0" smtClean="0"/>
          </a:p>
          <a:p>
            <a:pPr marL="0" indent="0">
              <a:buNone/>
            </a:pPr>
            <a:endParaRPr lang="fr-FR" dirty="0"/>
          </a:p>
          <a:p>
            <a:pPr marL="0" indent="0">
              <a:buNone/>
            </a:pPr>
            <a:endParaRPr lang="fr-FR" b="1" i="1" dirty="0"/>
          </a:p>
          <a:p>
            <a:pPr>
              <a:buFont typeface="Wingdings" charset="2"/>
              <a:buChar char="v"/>
            </a:pPr>
            <a:endParaRPr lang="fr-FR" dirty="0"/>
          </a:p>
        </p:txBody>
      </p:sp>
    </p:spTree>
    <p:extLst>
      <p:ext uri="{BB962C8B-B14F-4D97-AF65-F5344CB8AC3E}">
        <p14:creationId xmlns="" xmlns:p14="http://schemas.microsoft.com/office/powerpoint/2010/main" val="25913406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39596" y="367608"/>
            <a:ext cx="8450008" cy="3588461"/>
          </a:xfrm>
        </p:spPr>
        <p:txBody>
          <a:bodyPr>
            <a:normAutofit fontScale="85000" lnSpcReduction="20000"/>
          </a:bodyPr>
          <a:lstStyle/>
          <a:p>
            <a:pPr marL="0" indent="0" algn="just">
              <a:buNone/>
            </a:pPr>
            <a:r>
              <a:rPr lang="fr-FR" b="1" dirty="0"/>
              <a:t> </a:t>
            </a:r>
            <a:r>
              <a:rPr lang="fr-FR" b="1" dirty="0" smtClean="0"/>
              <a:t>L’accès frauduleux : </a:t>
            </a:r>
          </a:p>
          <a:p>
            <a:pPr marL="0" indent="0" algn="just">
              <a:buNone/>
            </a:pPr>
            <a:r>
              <a:rPr lang="fr-FR" sz="3900" dirty="0" smtClean="0"/>
              <a:t>Selon </a:t>
            </a:r>
            <a:r>
              <a:rPr lang="fr-FR" sz="3900" dirty="0"/>
              <a:t>le tribunal «</a:t>
            </a:r>
            <a:r>
              <a:rPr lang="fr-FR" sz="3900" i="1" dirty="0"/>
              <a:t> l’accès frauduleux à un système consiste à une intrusion, une pénétration par une personne dans le système sans y être autorisé, à l’aide de manipulations ou de manœuvres quelconques, c'est-à-dire à l’établissement d’une communication avec le système (…) </a:t>
            </a:r>
            <a:r>
              <a:rPr lang="fr-FR" sz="3900" i="1" dirty="0" smtClean="0"/>
              <a:t>» </a:t>
            </a:r>
            <a:r>
              <a:rPr lang="fr-FR" sz="2400" i="1" dirty="0"/>
              <a:t>l’article 431-8 Code pénal du Sénégal. </a:t>
            </a:r>
            <a:endParaRPr lang="fr-FR" sz="3900" i="1" dirty="0"/>
          </a:p>
          <a:p>
            <a:pPr marL="0" indent="0">
              <a:buNone/>
            </a:pPr>
            <a:r>
              <a:rPr lang="fr-FR" dirty="0"/>
              <a:t>T.R.H.C Dakar, n° 4241 du 18 septembre, </a:t>
            </a:r>
            <a:r>
              <a:rPr lang="fr-FR" i="1" dirty="0"/>
              <a:t>affaire </a:t>
            </a:r>
            <a:r>
              <a:rPr lang="fr-FR" i="1" dirty="0" err="1"/>
              <a:t>Pneuméca</a:t>
            </a:r>
            <a:r>
              <a:rPr lang="fr-FR" i="1" dirty="0"/>
              <a:t> précitée</a:t>
            </a:r>
            <a:r>
              <a:rPr lang="fr-FR" dirty="0"/>
              <a:t>. </a:t>
            </a:r>
          </a:p>
          <a:p>
            <a:pPr marL="0" indent="0">
              <a:buNone/>
            </a:pPr>
            <a:endParaRPr lang="fr-FR" dirty="0"/>
          </a:p>
        </p:txBody>
      </p:sp>
      <p:sp>
        <p:nvSpPr>
          <p:cNvPr id="4" name="Espace réservé du contenu 3"/>
          <p:cNvSpPr>
            <a:spLocks noGrp="1"/>
          </p:cNvSpPr>
          <p:nvPr>
            <p:ph sz="half" idx="13"/>
          </p:nvPr>
        </p:nvSpPr>
        <p:spPr>
          <a:xfrm>
            <a:off x="439596" y="3956070"/>
            <a:ext cx="8450008" cy="2637378"/>
          </a:xfrm>
        </p:spPr>
        <p:txBody>
          <a:bodyPr>
            <a:normAutofit/>
          </a:bodyPr>
          <a:lstStyle/>
          <a:p>
            <a:pPr marL="0" indent="0" algn="just">
              <a:buNone/>
            </a:pPr>
            <a:r>
              <a:rPr lang="fr-FR" sz="2400" b="1" dirty="0"/>
              <a:t>Le maintien frauduleux dans un système </a:t>
            </a:r>
            <a:r>
              <a:rPr lang="fr-FR" sz="2800" dirty="0"/>
              <a:t>est prévu par l’article 431-9 Code pénal </a:t>
            </a:r>
            <a:r>
              <a:rPr lang="fr-FR" sz="2800" dirty="0" smtClean="0"/>
              <a:t>sénégalais: </a:t>
            </a:r>
            <a:r>
              <a:rPr lang="fr-FR" sz="3200" dirty="0" smtClean="0"/>
              <a:t>«</a:t>
            </a:r>
            <a:r>
              <a:rPr lang="fr-FR" sz="3200" dirty="0"/>
              <a:t> </a:t>
            </a:r>
            <a:r>
              <a:rPr lang="fr-FR" sz="3200" i="1" dirty="0"/>
              <a:t>lorsqu'il résulte de l'accès ou du maintien frauduleux dans un système informatique soit la suppression ou la modification de données contenues dans le système,(…)</a:t>
            </a:r>
            <a:r>
              <a:rPr lang="fr-FR" sz="3200" dirty="0"/>
              <a:t>».</a:t>
            </a:r>
          </a:p>
          <a:p>
            <a:pPr marL="0" indent="0">
              <a:buNone/>
            </a:pPr>
            <a:endParaRPr lang="fr-FR" dirty="0"/>
          </a:p>
        </p:txBody>
      </p:sp>
    </p:spTree>
    <p:extLst>
      <p:ext uri="{BB962C8B-B14F-4D97-AF65-F5344CB8AC3E}">
        <p14:creationId xmlns="" xmlns:p14="http://schemas.microsoft.com/office/powerpoint/2010/main" val="9982373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60502" y="211642"/>
            <a:ext cx="8596540" cy="6398086"/>
          </a:xfrm>
        </p:spPr>
        <p:txBody>
          <a:bodyPr>
            <a:normAutofit fontScale="25000" lnSpcReduction="20000"/>
          </a:bodyPr>
          <a:lstStyle/>
          <a:p>
            <a:pPr>
              <a:buFont typeface="Wingdings" charset="2"/>
              <a:buChar char=""/>
            </a:pPr>
            <a:r>
              <a:rPr lang="fr-FR" sz="11200" b="1" dirty="0"/>
              <a:t>Les atteintes à l’intégrité des systèmes </a:t>
            </a:r>
            <a:r>
              <a:rPr lang="fr-FR" sz="11200" b="1" dirty="0" smtClean="0"/>
              <a:t>informatiques</a:t>
            </a:r>
            <a:endParaRPr lang="fr-FR" sz="11200" dirty="0"/>
          </a:p>
          <a:p>
            <a:pPr marL="0" indent="0" algn="just">
              <a:lnSpc>
                <a:spcPct val="140000"/>
              </a:lnSpc>
              <a:buNone/>
            </a:pPr>
            <a:r>
              <a:rPr lang="fr-FR" sz="7400" dirty="0"/>
              <a:t>Ces atteintes prévues par l’article 431-10 Code pénal </a:t>
            </a:r>
            <a:r>
              <a:rPr lang="fr-FR" sz="7400" dirty="0" smtClean="0"/>
              <a:t>Sénégalais</a:t>
            </a:r>
          </a:p>
          <a:p>
            <a:pPr marL="0" indent="0" algn="just">
              <a:lnSpc>
                <a:spcPct val="140000"/>
              </a:lnSpc>
              <a:buNone/>
            </a:pPr>
            <a:r>
              <a:rPr lang="fr-FR" sz="9600" dirty="0"/>
              <a:t>« </a:t>
            </a:r>
            <a:r>
              <a:rPr lang="fr-FR" sz="9600" i="1" dirty="0"/>
              <a:t>Celui qui entrave ou fausse ou  tenté d’entraver ou de fausser le fonctionnement d’un système informatique est puni d’un emprisonnement d’un (1) an à cinq (5) ans et d’une amende de 5.000.000 à 10.000.000 francs</a:t>
            </a:r>
            <a:r>
              <a:rPr lang="fr-FR" sz="9600" dirty="0"/>
              <a:t> »</a:t>
            </a:r>
            <a:r>
              <a:rPr lang="fr-FR" sz="9600" dirty="0" smtClean="0"/>
              <a:t>. </a:t>
            </a:r>
            <a:r>
              <a:rPr lang="fr-FR" sz="9600" dirty="0" smtClean="0">
                <a:solidFill>
                  <a:srgbClr val="FF0000"/>
                </a:solidFill>
              </a:rPr>
              <a:t>(</a:t>
            </a:r>
            <a:r>
              <a:rPr lang="fr-FR" sz="9600" dirty="0">
                <a:solidFill>
                  <a:srgbClr val="FF0000"/>
                </a:solidFill>
              </a:rPr>
              <a:t>virus, informatique, chevaux de Troie…). </a:t>
            </a:r>
            <a:endParaRPr lang="fr-FR" sz="9600" dirty="0" smtClean="0">
              <a:solidFill>
                <a:srgbClr val="FF0000"/>
              </a:solidFill>
            </a:endParaRPr>
          </a:p>
          <a:p>
            <a:pPr algn="just">
              <a:buFont typeface="Wingdings" charset="2"/>
              <a:buChar char=""/>
            </a:pPr>
            <a:r>
              <a:rPr lang="fr-FR" sz="9600" b="1" dirty="0"/>
              <a:t>Les atteintes à la disponibilité des systèmes </a:t>
            </a:r>
            <a:r>
              <a:rPr lang="fr-FR" sz="9600" b="1" dirty="0" smtClean="0"/>
              <a:t>informatisées</a:t>
            </a:r>
            <a:endParaRPr lang="fr-FR" sz="16000" b="1" dirty="0" smtClean="0">
              <a:solidFill>
                <a:srgbClr val="FF0000"/>
              </a:solidFill>
            </a:endParaRPr>
          </a:p>
          <a:p>
            <a:pPr marL="0" indent="0" algn="just">
              <a:lnSpc>
                <a:spcPct val="140000"/>
              </a:lnSpc>
              <a:buNone/>
            </a:pPr>
            <a:r>
              <a:rPr lang="fr-FR" sz="9600" dirty="0" smtClean="0"/>
              <a:t>Ces </a:t>
            </a:r>
            <a:r>
              <a:rPr lang="fr-FR" sz="9600" dirty="0"/>
              <a:t>atteintes ont pour siège l’article 431-11 Code pénal qui incrimine « </a:t>
            </a:r>
            <a:r>
              <a:rPr lang="fr-FR" sz="9600" i="1" dirty="0"/>
              <a:t>Celui qui introduit ou tente d'introduire frauduleusement des données dans un système informatique, est puni d'un emprisonnement d'un an à cinq ans et une amende de 5.000.000 de francs à 10.000.000 de francs ou de l'une des ces peines </a:t>
            </a:r>
            <a:r>
              <a:rPr lang="fr-FR" sz="9600" dirty="0"/>
              <a:t>» </a:t>
            </a:r>
          </a:p>
          <a:p>
            <a:pPr marL="0" indent="0" algn="just">
              <a:lnSpc>
                <a:spcPct val="140000"/>
              </a:lnSpc>
              <a:buNone/>
            </a:pPr>
            <a:endParaRPr lang="fr-FR" sz="2800" dirty="0"/>
          </a:p>
          <a:p>
            <a:pPr marL="0" indent="0" algn="just">
              <a:buNone/>
            </a:pPr>
            <a:r>
              <a:rPr lang="fr-FR" sz="2800" dirty="0" smtClean="0"/>
              <a:t> </a:t>
            </a:r>
            <a:endParaRPr lang="fr-FR" sz="2800" dirty="0"/>
          </a:p>
        </p:txBody>
      </p:sp>
    </p:spTree>
    <p:extLst>
      <p:ext uri="{BB962C8B-B14F-4D97-AF65-F5344CB8AC3E}">
        <p14:creationId xmlns="" xmlns:p14="http://schemas.microsoft.com/office/powerpoint/2010/main" val="187931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5627" y="293042"/>
            <a:ext cx="8547696" cy="6349246"/>
          </a:xfrm>
        </p:spPr>
        <p:txBody>
          <a:bodyPr>
            <a:normAutofit fontScale="77500" lnSpcReduction="20000"/>
          </a:bodyPr>
          <a:lstStyle/>
          <a:p>
            <a:pPr marL="0" indent="0">
              <a:buNone/>
            </a:pPr>
            <a:r>
              <a:rPr lang="fr-FR" sz="3600" b="1" dirty="0">
                <a:solidFill>
                  <a:srgbClr val="0000FF"/>
                </a:solidFill>
              </a:rPr>
              <a:t>2- La protection pénale des données informatiques</a:t>
            </a:r>
          </a:p>
          <a:p>
            <a:pPr marL="0" lvl="0" indent="0">
              <a:buNone/>
            </a:pPr>
            <a:r>
              <a:rPr lang="fr-FR" sz="3100" b="1" dirty="0" smtClean="0"/>
              <a:t>a- </a:t>
            </a:r>
            <a:r>
              <a:rPr lang="fr-FR" sz="3100" b="1" dirty="0"/>
              <a:t>Le concept de donnée informatique </a:t>
            </a:r>
            <a:r>
              <a:rPr lang="fr-FR" b="1" i="1" dirty="0" smtClean="0"/>
              <a:t>(Droit sénégalais)</a:t>
            </a:r>
            <a:endParaRPr lang="fr-FR" i="1" dirty="0"/>
          </a:p>
          <a:p>
            <a:pPr marL="0" indent="0" algn="just">
              <a:lnSpc>
                <a:spcPct val="110000"/>
              </a:lnSpc>
              <a:buNone/>
            </a:pPr>
            <a:r>
              <a:rPr lang="fr-FR" sz="2800" dirty="0"/>
              <a:t>« </a:t>
            </a:r>
            <a:r>
              <a:rPr lang="fr-FR" sz="2800" i="1" dirty="0"/>
              <a:t>représentation de faits, d’informations ou de notion sous une forme susceptible d’être traitée par un équipement terminal, y compris un programme permettant à ce dernier d’exécuter une fonction</a:t>
            </a:r>
            <a:r>
              <a:rPr lang="fr-FR" sz="2800" dirty="0"/>
              <a:t> </a:t>
            </a:r>
            <a:r>
              <a:rPr lang="fr-FR" sz="2800" dirty="0" smtClean="0"/>
              <a:t> »</a:t>
            </a:r>
          </a:p>
          <a:p>
            <a:pPr marL="0" lvl="0" indent="0" algn="just">
              <a:buNone/>
            </a:pPr>
            <a:r>
              <a:rPr lang="fr-FR" sz="3100" i="1" dirty="0" smtClean="0"/>
              <a:t> </a:t>
            </a:r>
            <a:r>
              <a:rPr lang="fr-FR" sz="3100" b="1" dirty="0" smtClean="0"/>
              <a:t>b- Les </a:t>
            </a:r>
            <a:r>
              <a:rPr lang="fr-FR" sz="3100" b="1" dirty="0"/>
              <a:t>atteintes aux données </a:t>
            </a:r>
            <a:r>
              <a:rPr lang="fr-FR" sz="3100" b="1" dirty="0" smtClean="0"/>
              <a:t>informatiques</a:t>
            </a:r>
          </a:p>
          <a:p>
            <a:pPr lvl="0"/>
            <a:r>
              <a:rPr lang="fr-FR" sz="2800" b="1" dirty="0"/>
              <a:t>Les atteintes à la confidentialité des données informatiques</a:t>
            </a:r>
            <a:endParaRPr lang="fr-FR" sz="2800" dirty="0"/>
          </a:p>
          <a:p>
            <a:pPr marL="0" indent="0" algn="just">
              <a:buNone/>
            </a:pPr>
            <a:r>
              <a:rPr lang="fr-FR" sz="2800" dirty="0"/>
              <a:t>La confidentialité des données est garantie par le délit d’interception frauduleuse de données informatisées prévu </a:t>
            </a:r>
            <a:r>
              <a:rPr lang="fr-FR" sz="2800" dirty="0" smtClean="0"/>
              <a:t>par</a:t>
            </a:r>
            <a:r>
              <a:rPr lang="fr-FR" sz="2800" dirty="0"/>
              <a:t> </a:t>
            </a:r>
            <a:r>
              <a:rPr lang="fr-FR" sz="2800" dirty="0" smtClean="0"/>
              <a:t>l’article </a:t>
            </a:r>
            <a:r>
              <a:rPr lang="fr-FR" sz="2800" dirty="0"/>
              <a:t>431-12 de loi n°2016-29 modifiant la loi n°65-60 du 21 juillet 1965 portant code pénal. </a:t>
            </a:r>
            <a:endParaRPr lang="fr-FR" sz="2800" dirty="0" smtClean="0"/>
          </a:p>
          <a:p>
            <a:pPr marL="0" indent="0" algn="just">
              <a:lnSpc>
                <a:spcPct val="120000"/>
              </a:lnSpc>
              <a:buNone/>
            </a:pPr>
            <a:r>
              <a:rPr lang="fr-FR" sz="2800" dirty="0" smtClean="0"/>
              <a:t>"</a:t>
            </a:r>
            <a:r>
              <a:rPr lang="fr-FR" sz="2800" i="1" dirty="0"/>
              <a:t>Celui qui intercepter ou tente d'intercepter frauduleusement des données informatiques lors de leur transmission non publique  à destination, en provenance ou à l'intérieur d'un  système informatique est puni d'un emprisonnement d'un an à cinq ans et une amende de 5.000.000 de francs à 10.000.000 de francs ou de l'une des ces </a:t>
            </a:r>
            <a:r>
              <a:rPr lang="fr-FR" sz="2800" i="1" dirty="0" smtClean="0"/>
              <a:t>peines »</a:t>
            </a:r>
            <a:endParaRPr lang="fr-FR" sz="2800" dirty="0"/>
          </a:p>
          <a:p>
            <a:endParaRPr lang="fr-FR" sz="2800" dirty="0"/>
          </a:p>
          <a:p>
            <a:pPr marL="0" lvl="0" indent="0" algn="just">
              <a:buNone/>
            </a:pPr>
            <a:endParaRPr lang="fr-FR" sz="2800" i="1" dirty="0"/>
          </a:p>
        </p:txBody>
      </p:sp>
    </p:spTree>
    <p:extLst>
      <p:ext uri="{BB962C8B-B14F-4D97-AF65-F5344CB8AC3E}">
        <p14:creationId xmlns="" xmlns:p14="http://schemas.microsoft.com/office/powerpoint/2010/main" val="26741121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57200" y="341882"/>
            <a:ext cx="7772400" cy="6202726"/>
          </a:xfrm>
        </p:spPr>
        <p:txBody>
          <a:bodyPr/>
          <a:lstStyle/>
          <a:p>
            <a:pPr marL="342900" lvl="0" indent="-342900" algn="just">
              <a:buFont typeface="Wingdings" charset="2"/>
              <a:buChar char=""/>
            </a:pPr>
            <a:r>
              <a:rPr lang="fr-FR" sz="2800" b="1" dirty="0"/>
              <a:t>Les atteintes à l’intégrité des données </a:t>
            </a:r>
            <a:r>
              <a:rPr lang="fr-FR" sz="2800" b="1" dirty="0" smtClean="0"/>
              <a:t>informatiques</a:t>
            </a:r>
            <a:endParaRPr lang="fr-FR" sz="2800" dirty="0"/>
          </a:p>
          <a:p>
            <a:endParaRPr lang="fr-FR" dirty="0" smtClean="0"/>
          </a:p>
          <a:p>
            <a:pPr algn="just"/>
            <a:r>
              <a:rPr lang="fr-FR" sz="2800" dirty="0" smtClean="0"/>
              <a:t>L’article </a:t>
            </a:r>
            <a:r>
              <a:rPr lang="fr-FR" sz="2800" dirty="0"/>
              <a:t>431-13  Code pénal sénégalais incrimine l’endommagement, l’altération, la modification la détérioration, l’effacement frauduleux de données informatiques.</a:t>
            </a:r>
          </a:p>
          <a:p>
            <a:pPr algn="just"/>
            <a:r>
              <a:rPr lang="fr-FR" sz="2800" dirty="0"/>
              <a:t>Ces atteintes à l’intégrité des données assurent une protection aux données similaires à celle dont jouissent les biens matériels classiques contre les destructions dégradations et dommages, prévus par les articles 406 et s </a:t>
            </a:r>
            <a:endParaRPr lang="fr-FR" sz="2800" dirty="0" smtClean="0"/>
          </a:p>
          <a:p>
            <a:pPr algn="just"/>
            <a:endParaRPr lang="fr-FR" dirty="0"/>
          </a:p>
        </p:txBody>
      </p:sp>
    </p:spTree>
    <p:extLst>
      <p:ext uri="{BB962C8B-B14F-4D97-AF65-F5344CB8AC3E}">
        <p14:creationId xmlns="" xmlns:p14="http://schemas.microsoft.com/office/powerpoint/2010/main" val="858168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1657" y="503238"/>
            <a:ext cx="8775635" cy="587530"/>
          </a:xfrm>
        </p:spPr>
        <p:txBody>
          <a:bodyPr/>
          <a:lstStyle/>
          <a:p>
            <a:r>
              <a:rPr lang="fr-FR" sz="3600" b="1" dirty="0"/>
              <a:t>B- L’adaptation des incriminations classiques aux tics</a:t>
            </a:r>
            <a:br>
              <a:rPr lang="fr-FR" sz="3600" b="1" dirty="0"/>
            </a:br>
            <a:endParaRPr lang="fr-FR" sz="3600" dirty="0"/>
          </a:p>
        </p:txBody>
      </p:sp>
      <p:sp>
        <p:nvSpPr>
          <p:cNvPr id="3" name="Espace réservé du contenu 2"/>
          <p:cNvSpPr>
            <a:spLocks noGrp="1"/>
          </p:cNvSpPr>
          <p:nvPr>
            <p:ph idx="1"/>
          </p:nvPr>
        </p:nvSpPr>
        <p:spPr>
          <a:xfrm>
            <a:off x="211658" y="1371600"/>
            <a:ext cx="8645384" cy="5270688"/>
          </a:xfrm>
        </p:spPr>
        <p:txBody>
          <a:bodyPr>
            <a:normAutofit fontScale="92500" lnSpcReduction="10000"/>
          </a:bodyPr>
          <a:lstStyle/>
          <a:p>
            <a:pPr marL="0" indent="0">
              <a:buNone/>
            </a:pPr>
            <a:r>
              <a:rPr lang="fr-FR" b="1" dirty="0">
                <a:solidFill>
                  <a:srgbClr val="0000FF"/>
                </a:solidFill>
              </a:rPr>
              <a:t>1- La dématérialisation des infractions contre les biens</a:t>
            </a:r>
            <a:endParaRPr lang="fr-FR" dirty="0">
              <a:solidFill>
                <a:srgbClr val="0000FF"/>
              </a:solidFill>
            </a:endParaRPr>
          </a:p>
          <a:p>
            <a:pPr lvl="0"/>
            <a:r>
              <a:rPr lang="fr-FR" b="1" dirty="0"/>
              <a:t>Le vol </a:t>
            </a:r>
            <a:r>
              <a:rPr lang="fr-FR" b="1" dirty="0" smtClean="0"/>
              <a:t>d’information</a:t>
            </a:r>
            <a:endParaRPr lang="fr-FR" dirty="0"/>
          </a:p>
          <a:p>
            <a:pPr marL="0" lvl="0" indent="0" algn="just">
              <a:buNone/>
            </a:pPr>
            <a:r>
              <a:rPr lang="fr-FR" dirty="0" smtClean="0"/>
              <a:t>L'article </a:t>
            </a:r>
            <a:r>
              <a:rPr lang="fr-FR" dirty="0"/>
              <a:t>431-58 du Code pénal a consacré la théorie du vol d’information. Selon ce texte : « </a:t>
            </a:r>
            <a:r>
              <a:rPr lang="fr-FR" i="1" dirty="0"/>
              <a:t>Celui qui a copié frauduleusement des données informatiques qui ne lui appartient pas est puni d'un emprisonnement de six mois  à deux ans et une amende de 250.000 de francs à 1.000.000 de francs ou de l'une des ces peines </a:t>
            </a:r>
            <a:r>
              <a:rPr lang="fr-FR" dirty="0" smtClean="0"/>
              <a:t>».</a:t>
            </a:r>
            <a:endParaRPr lang="fr-FR" dirty="0"/>
          </a:p>
          <a:p>
            <a:pPr lvl="0"/>
            <a:r>
              <a:rPr lang="fr-FR" b="1" dirty="0"/>
              <a:t>L’escroquerie d’information</a:t>
            </a:r>
            <a:endParaRPr lang="fr-FR" dirty="0"/>
          </a:p>
          <a:p>
            <a:pPr marL="0" indent="0" algn="just">
              <a:buNone/>
            </a:pPr>
            <a:r>
              <a:rPr lang="fr-FR" dirty="0"/>
              <a:t>L’escroquerie d’information est sanctionnée par l’article 431-57 du Code pénal sénégalais. Ce texte frappe pénalement « </a:t>
            </a:r>
            <a:r>
              <a:rPr lang="fr-FR" i="1" dirty="0"/>
              <a:t>Celui qui usurpe l'identité d'une tiers ou une ou plusieurs données permettant de l'identifier, en vue de troubler sa tranquillité ou celle d'autrui ou de porter atteinte à son honneur, à sa considération ou à son patrimoine est puni d'un  emprisonnement de trois ans  à sept ans et d'une amende de 500.000 de francs à 2.000.000 de francs ou de l'une des ces peines</a:t>
            </a:r>
            <a:r>
              <a:rPr lang="fr-FR" dirty="0"/>
              <a:t>». </a:t>
            </a:r>
          </a:p>
        </p:txBody>
      </p:sp>
      <p:sp>
        <p:nvSpPr>
          <p:cNvPr id="4" name="ZoneTexte 3"/>
          <p:cNvSpPr txBox="1"/>
          <p:nvPr/>
        </p:nvSpPr>
        <p:spPr>
          <a:xfrm>
            <a:off x="12341245" y="1481491"/>
            <a:ext cx="184666" cy="369332"/>
          </a:xfrm>
          <a:prstGeom prst="rect">
            <a:avLst/>
          </a:prstGeom>
          <a:noFill/>
        </p:spPr>
        <p:txBody>
          <a:bodyPr wrap="none" rtlCol="0">
            <a:spAutoFit/>
          </a:bodyPr>
          <a:lstStyle/>
          <a:p>
            <a:endParaRPr lang="fr-FR" dirty="0"/>
          </a:p>
        </p:txBody>
      </p:sp>
    </p:spTree>
    <p:extLst>
      <p:ext uri="{BB962C8B-B14F-4D97-AF65-F5344CB8AC3E}">
        <p14:creationId xmlns="" xmlns:p14="http://schemas.microsoft.com/office/powerpoint/2010/main" val="23089599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1908" y="293041"/>
            <a:ext cx="8563978" cy="6398087"/>
          </a:xfrm>
        </p:spPr>
        <p:txBody>
          <a:bodyPr>
            <a:normAutofit fontScale="92500"/>
          </a:bodyPr>
          <a:lstStyle/>
          <a:p>
            <a:pPr lvl="0"/>
            <a:r>
              <a:rPr lang="fr-FR" b="1" dirty="0"/>
              <a:t>Le recel d’information</a:t>
            </a:r>
            <a:r>
              <a:rPr lang="fr-FR" dirty="0"/>
              <a:t>. </a:t>
            </a:r>
            <a:endParaRPr lang="fr-FR" dirty="0" smtClean="0"/>
          </a:p>
          <a:p>
            <a:pPr marL="0" indent="0" algn="just">
              <a:buNone/>
            </a:pPr>
            <a:r>
              <a:rPr lang="fr-FR" dirty="0" smtClean="0"/>
              <a:t>La </a:t>
            </a:r>
            <a:r>
              <a:rPr lang="fr-FR" dirty="0"/>
              <a:t>loi du 25 janvier 2008 portant sur la cybercriminalité a levé toute difficulté en consacrant le recel portant sur une information. </a:t>
            </a:r>
            <a:endParaRPr lang="fr-FR" dirty="0" smtClean="0"/>
          </a:p>
          <a:p>
            <a:pPr marL="0" indent="0" algn="just">
              <a:buNone/>
            </a:pPr>
            <a:r>
              <a:rPr lang="fr-FR" dirty="0" smtClean="0"/>
              <a:t>Le </a:t>
            </a:r>
            <a:r>
              <a:rPr lang="fr-FR" dirty="0"/>
              <a:t>recel d’information peut bien avoir vocation à s’appliquer à l’hébergeur qui refuserait de retirer de son serveur des informations manifestement illicites (contenus pédopornographiques ou violents) à la suite d’une notification faite par l’autorité judiciaire. </a:t>
            </a:r>
          </a:p>
          <a:p>
            <a:pPr marL="0" indent="0">
              <a:buNone/>
            </a:pPr>
            <a:r>
              <a:rPr lang="fr-FR" b="1" dirty="0">
                <a:solidFill>
                  <a:srgbClr val="0000FF"/>
                </a:solidFill>
              </a:rPr>
              <a:t>2- L’extension de l’objet des infractions contre la chose publique</a:t>
            </a:r>
          </a:p>
          <a:p>
            <a:pPr lvl="0">
              <a:buFont typeface="Wingdings" charset="2"/>
              <a:buChar char="q"/>
            </a:pPr>
            <a:r>
              <a:rPr lang="fr-FR" b="1" dirty="0"/>
              <a:t>La falsification informatique</a:t>
            </a:r>
            <a:endParaRPr lang="fr-FR" dirty="0"/>
          </a:p>
          <a:p>
            <a:pPr marL="0" indent="0" algn="just">
              <a:buNone/>
            </a:pPr>
            <a:r>
              <a:rPr lang="fr-FR" dirty="0"/>
              <a:t>Le faux ou falsification informatique est le fait de produire ou de fabriquer un ensemble de données numérisées par l’introduction, l’effacement ou la suppression frauduleuse de données informatiques stockées, traitées ou transmises par un système informatique, engendrant des données contrefaites, dans l’intention qu’elles soient prises en compte ou utilisées à des fins légales comme si elles étaient originales. </a:t>
            </a:r>
          </a:p>
          <a:p>
            <a:pPr marL="0" indent="0">
              <a:buNone/>
            </a:pPr>
            <a:endParaRPr lang="fr-FR" dirty="0"/>
          </a:p>
        </p:txBody>
      </p:sp>
    </p:spTree>
    <p:extLst>
      <p:ext uri="{BB962C8B-B14F-4D97-AF65-F5344CB8AC3E}">
        <p14:creationId xmlns="" xmlns:p14="http://schemas.microsoft.com/office/powerpoint/2010/main" val="36215613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095" y="195361"/>
            <a:ext cx="8743071" cy="6528328"/>
          </a:xfrm>
        </p:spPr>
        <p:txBody>
          <a:bodyPr/>
          <a:lstStyle/>
          <a:p>
            <a:pPr lvl="0">
              <a:buFont typeface="Wingdings" charset="2"/>
              <a:buChar char="q"/>
            </a:pPr>
            <a:r>
              <a:rPr lang="fr-FR" b="1" dirty="0"/>
              <a:t>Le </a:t>
            </a:r>
            <a:r>
              <a:rPr lang="fr-FR" b="1" dirty="0" err="1"/>
              <a:t>cyberterrorisme</a:t>
            </a:r>
            <a:endParaRPr lang="fr-FR" dirty="0"/>
          </a:p>
          <a:p>
            <a:pPr marL="0" indent="0" algn="just">
              <a:buNone/>
            </a:pPr>
            <a:r>
              <a:rPr lang="fr-FR" dirty="0"/>
              <a:t>L</a:t>
            </a:r>
            <a:r>
              <a:rPr lang="fr-FR" dirty="0" smtClean="0"/>
              <a:t>’implication </a:t>
            </a:r>
            <a:r>
              <a:rPr lang="fr-FR" dirty="0"/>
              <a:t>des technologies numériques dans le processus </a:t>
            </a:r>
            <a:r>
              <a:rPr lang="fr-FR" dirty="0" err="1"/>
              <a:t>cyberterroriste</a:t>
            </a:r>
            <a:r>
              <a:rPr lang="fr-FR" dirty="0"/>
              <a:t> peut se traduire par des </a:t>
            </a:r>
            <a:r>
              <a:rPr lang="fr-FR" dirty="0" err="1"/>
              <a:t>cyberattaques</a:t>
            </a:r>
            <a:r>
              <a:rPr lang="fr-FR" dirty="0"/>
              <a:t> visant les systèmes, les réseaux informatiques des Etats ou des entreprises et les données qu’ils contiennent. </a:t>
            </a:r>
          </a:p>
          <a:p>
            <a:pPr marL="0" indent="0" algn="ctr">
              <a:buNone/>
            </a:pPr>
            <a:r>
              <a:rPr lang="fr-FR" sz="2800" b="1" dirty="0">
                <a:solidFill>
                  <a:srgbClr val="0000FF"/>
                </a:solidFill>
              </a:rPr>
              <a:t>SECTION II: Les TIC : un moyen de commission </a:t>
            </a:r>
            <a:r>
              <a:rPr lang="fr-FR" sz="2800" b="1" dirty="0" smtClean="0">
                <a:solidFill>
                  <a:srgbClr val="0000FF"/>
                </a:solidFill>
              </a:rPr>
              <a:t>d’infractions</a:t>
            </a:r>
          </a:p>
          <a:p>
            <a:pPr marL="0" indent="0" algn="ctr">
              <a:buNone/>
            </a:pPr>
            <a:r>
              <a:rPr lang="fr-FR" sz="2800" b="1" dirty="0"/>
              <a:t>A- Les TIC : un moyen de commission d’infractions de droit </a:t>
            </a:r>
            <a:r>
              <a:rPr lang="fr-FR" sz="2800" b="1" dirty="0" smtClean="0"/>
              <a:t>commun</a:t>
            </a:r>
          </a:p>
          <a:p>
            <a:pPr marL="0" indent="0" algn="ctr">
              <a:buNone/>
            </a:pPr>
            <a:r>
              <a:rPr lang="fr-FR" sz="2800" b="1" dirty="0"/>
              <a:t>B- Les TIC : un moyen de commission d’infractions de </a:t>
            </a:r>
            <a:r>
              <a:rPr lang="fr-FR" sz="2800" b="1" dirty="0" smtClean="0"/>
              <a:t>presse</a:t>
            </a:r>
            <a:endParaRPr lang="fr-FR" sz="2800" b="1" dirty="0"/>
          </a:p>
          <a:p>
            <a:pPr marL="0" indent="0" algn="ctr">
              <a:buNone/>
            </a:pPr>
            <a:endParaRPr lang="fr-FR" sz="2800" b="1" dirty="0">
              <a:solidFill>
                <a:srgbClr val="0000FF"/>
              </a:solidFill>
            </a:endParaRPr>
          </a:p>
          <a:p>
            <a:pPr marL="0" indent="0">
              <a:buNone/>
            </a:pPr>
            <a:endParaRPr lang="fr-FR" dirty="0"/>
          </a:p>
        </p:txBody>
      </p:sp>
    </p:spTree>
    <p:extLst>
      <p:ext uri="{BB962C8B-B14F-4D97-AF65-F5344CB8AC3E}">
        <p14:creationId xmlns="" xmlns:p14="http://schemas.microsoft.com/office/powerpoint/2010/main" val="4220689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600" b="1" dirty="0"/>
              <a:t>A- Les TIC : un moyen de commission d’infractions de droit commun</a:t>
            </a:r>
            <a:r>
              <a:rPr lang="fr-FR" sz="4800" b="1" dirty="0"/>
              <a:t/>
            </a:r>
            <a:br>
              <a:rPr lang="fr-FR" sz="4800" b="1" dirty="0"/>
            </a:br>
            <a:endParaRPr lang="fr-FR" dirty="0"/>
          </a:p>
        </p:txBody>
      </p:sp>
      <p:sp>
        <p:nvSpPr>
          <p:cNvPr id="3" name="Espace réservé du contenu 2"/>
          <p:cNvSpPr>
            <a:spLocks noGrp="1"/>
          </p:cNvSpPr>
          <p:nvPr>
            <p:ph idx="1"/>
          </p:nvPr>
        </p:nvSpPr>
        <p:spPr>
          <a:xfrm>
            <a:off x="309346" y="1253569"/>
            <a:ext cx="8547696" cy="5470120"/>
          </a:xfrm>
        </p:spPr>
        <p:txBody>
          <a:bodyPr>
            <a:normAutofit lnSpcReduction="10000"/>
          </a:bodyPr>
          <a:lstStyle/>
          <a:p>
            <a:pPr marL="0" indent="0">
              <a:buNone/>
            </a:pPr>
            <a:r>
              <a:rPr lang="fr-FR" b="1" dirty="0">
                <a:solidFill>
                  <a:srgbClr val="3366FF"/>
                </a:solidFill>
              </a:rPr>
              <a:t>1- Les TIC : un moyen d’obtention de fonds</a:t>
            </a:r>
          </a:p>
          <a:p>
            <a:pPr marL="0" indent="0" algn="just">
              <a:lnSpc>
                <a:spcPct val="110000"/>
              </a:lnSpc>
              <a:buNone/>
            </a:pPr>
            <a:r>
              <a:rPr lang="fr-FR" dirty="0"/>
              <a:t>L</a:t>
            </a:r>
            <a:r>
              <a:rPr lang="fr-FR" dirty="0" smtClean="0"/>
              <a:t>’une </a:t>
            </a:r>
            <a:r>
              <a:rPr lang="fr-FR" dirty="0"/>
              <a:t>des techniques frauduleuses les plus connues est le </a:t>
            </a:r>
            <a:r>
              <a:rPr lang="fr-FR" sz="2800" b="1" dirty="0"/>
              <a:t>« </a:t>
            </a:r>
            <a:r>
              <a:rPr lang="fr-FR" sz="2800" b="1" dirty="0" err="1"/>
              <a:t>scam</a:t>
            </a:r>
            <a:r>
              <a:rPr lang="fr-FR" sz="2800" b="1" dirty="0"/>
              <a:t> » </a:t>
            </a:r>
            <a:r>
              <a:rPr lang="fr-FR" sz="3200" dirty="0">
                <a:solidFill>
                  <a:srgbClr val="FF0000"/>
                </a:solidFill>
              </a:rPr>
              <a:t>(«</a:t>
            </a:r>
            <a:r>
              <a:rPr lang="fr-FR" sz="3200" i="1" dirty="0">
                <a:solidFill>
                  <a:srgbClr val="FF0000"/>
                </a:solidFill>
              </a:rPr>
              <a:t>ruse</a:t>
            </a:r>
            <a:r>
              <a:rPr lang="fr-FR" sz="3200" dirty="0">
                <a:solidFill>
                  <a:srgbClr val="FF0000"/>
                </a:solidFill>
              </a:rPr>
              <a:t>» </a:t>
            </a:r>
            <a:r>
              <a:rPr lang="fr-FR" dirty="0"/>
              <a:t>en anglais) ou 419. </a:t>
            </a:r>
            <a:endParaRPr lang="fr-FR" dirty="0" smtClean="0"/>
          </a:p>
          <a:p>
            <a:pPr marL="0" indent="0" algn="just">
              <a:lnSpc>
                <a:spcPct val="110000"/>
              </a:lnSpc>
              <a:buNone/>
            </a:pPr>
            <a:r>
              <a:rPr lang="fr-FR" dirty="0" smtClean="0"/>
              <a:t>Cette </a:t>
            </a:r>
            <a:r>
              <a:rPr lang="fr-FR" dirty="0"/>
              <a:t>arnaque est issue du Nigeria, ce qui lui a valu également l'appellation «419» en référence à l'article du Code pénal nigérian réprimant ce type de pratique</a:t>
            </a:r>
            <a:r>
              <a:rPr lang="fr-FR" dirty="0" smtClean="0"/>
              <a:t>.</a:t>
            </a:r>
          </a:p>
          <a:p>
            <a:pPr marL="0" indent="0" algn="just">
              <a:lnSpc>
                <a:spcPct val="110000"/>
              </a:lnSpc>
              <a:buNone/>
            </a:pPr>
            <a:r>
              <a:rPr lang="fr-FR" dirty="0" smtClean="0"/>
              <a:t> </a:t>
            </a:r>
            <a:r>
              <a:rPr lang="fr-FR" dirty="0"/>
              <a:t>Le </a:t>
            </a:r>
            <a:r>
              <a:rPr lang="fr-FR" sz="2800" b="1" dirty="0"/>
              <a:t>« </a:t>
            </a:r>
            <a:r>
              <a:rPr lang="fr-FR" sz="2800" b="1" dirty="0" err="1"/>
              <a:t>scam</a:t>
            </a:r>
            <a:r>
              <a:rPr lang="fr-FR" sz="2800" b="1" dirty="0"/>
              <a:t> </a:t>
            </a:r>
            <a:r>
              <a:rPr lang="fr-FR" sz="2800" dirty="0"/>
              <a:t>» </a:t>
            </a:r>
            <a:r>
              <a:rPr lang="fr-FR" dirty="0"/>
              <a:t>consiste à extorquer des fonds à des internautes en leur faisant miroiter une somme d'argent dont ils pourraient toucher un pourcentage. </a:t>
            </a:r>
            <a:endParaRPr lang="fr-FR" dirty="0" smtClean="0"/>
          </a:p>
          <a:p>
            <a:pPr marL="0" indent="0" algn="just">
              <a:lnSpc>
                <a:spcPct val="110000"/>
              </a:lnSpc>
              <a:buNone/>
            </a:pPr>
            <a:r>
              <a:rPr lang="fr-FR" sz="2000" dirty="0" smtClean="0">
                <a:solidFill>
                  <a:srgbClr val="FF0000"/>
                </a:solidFill>
              </a:rPr>
              <a:t>« En </a:t>
            </a:r>
            <a:r>
              <a:rPr lang="fr-FR" sz="2000" dirty="0">
                <a:solidFill>
                  <a:srgbClr val="FF0000"/>
                </a:solidFill>
              </a:rPr>
              <a:t>vertu du principe de la neutralité technologique </a:t>
            </a:r>
            <a:r>
              <a:rPr lang="fr-FR" sz="2000" dirty="0" smtClean="0">
                <a:solidFill>
                  <a:srgbClr val="FF0000"/>
                </a:solidFill>
              </a:rPr>
              <a:t>(LE JUGE) </a:t>
            </a:r>
            <a:r>
              <a:rPr lang="fr-FR" sz="2000" dirty="0">
                <a:solidFill>
                  <a:srgbClr val="FF0000"/>
                </a:solidFill>
              </a:rPr>
              <a:t>puiser dans l’arsenal pénal </a:t>
            </a:r>
            <a:r>
              <a:rPr lang="fr-FR" sz="2000" dirty="0" smtClean="0">
                <a:solidFill>
                  <a:srgbClr val="FF0000"/>
                </a:solidFill>
              </a:rPr>
              <a:t>traditionnel »</a:t>
            </a:r>
            <a:endParaRPr lang="fr-FR" sz="2000" dirty="0">
              <a:solidFill>
                <a:srgbClr val="FF0000"/>
              </a:solidFill>
            </a:endParaRPr>
          </a:p>
        </p:txBody>
      </p:sp>
    </p:spTree>
    <p:extLst>
      <p:ext uri="{BB962C8B-B14F-4D97-AF65-F5344CB8AC3E}">
        <p14:creationId xmlns="" xmlns:p14="http://schemas.microsoft.com/office/powerpoint/2010/main" val="450021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2814" y="407003"/>
            <a:ext cx="8775634" cy="6202725"/>
          </a:xfrm>
        </p:spPr>
        <p:txBody>
          <a:bodyPr/>
          <a:lstStyle/>
          <a:p>
            <a:pPr marL="0" indent="0" algn="just">
              <a:lnSpc>
                <a:spcPct val="120000"/>
              </a:lnSpc>
              <a:buNone/>
            </a:pPr>
            <a:r>
              <a:rPr lang="fr-FR" b="1" dirty="0" smtClean="0"/>
              <a:t>DÉCISION DE JUSTICE</a:t>
            </a:r>
          </a:p>
          <a:p>
            <a:pPr marL="0" indent="0" algn="just">
              <a:lnSpc>
                <a:spcPct val="120000"/>
              </a:lnSpc>
              <a:buNone/>
            </a:pPr>
            <a:r>
              <a:rPr lang="fr-FR" dirty="0" smtClean="0"/>
              <a:t>Dans </a:t>
            </a:r>
            <a:r>
              <a:rPr lang="fr-FR" dirty="0"/>
              <a:t>l’affaire </a:t>
            </a:r>
            <a:r>
              <a:rPr lang="fr-FR" dirty="0">
                <a:solidFill>
                  <a:srgbClr val="FF0000"/>
                </a:solidFill>
              </a:rPr>
              <a:t>Fulgence BAHI</a:t>
            </a:r>
            <a:r>
              <a:rPr lang="fr-FR" dirty="0"/>
              <a:t>, la deuxième chambre Correctionnelle du tribunal  régional Hors Classe de Dakar a jugé que le fait pour une personne d’utiliser une carte de paiement falsifiée, en accédant au terminal de paiement électronique d’une banque installé dans une bijouterie en se faisant remettre des bijoux d’un montant de sept millions de francs CFA, constitue une fraude informatique</a:t>
            </a:r>
            <a:r>
              <a:rPr lang="fr-FR" dirty="0" smtClean="0"/>
              <a:t>.</a:t>
            </a:r>
          </a:p>
          <a:p>
            <a:pPr marL="0" indent="0" algn="just">
              <a:lnSpc>
                <a:spcPct val="120000"/>
              </a:lnSpc>
              <a:buNone/>
            </a:pPr>
            <a:r>
              <a:rPr lang="fr-FR" b="1" dirty="0">
                <a:solidFill>
                  <a:srgbClr val="3366FF"/>
                </a:solidFill>
              </a:rPr>
              <a:t>2- Les TIC : un moyen d’atteinte à la moralité des mineurs</a:t>
            </a:r>
            <a:endParaRPr lang="fr-FR" dirty="0">
              <a:solidFill>
                <a:srgbClr val="3366FF"/>
              </a:solidFill>
            </a:endParaRPr>
          </a:p>
          <a:p>
            <a:pPr marL="0" indent="0" algn="just">
              <a:lnSpc>
                <a:spcPct val="120000"/>
              </a:lnSpc>
              <a:buNone/>
            </a:pPr>
            <a:r>
              <a:rPr lang="fr-FR" dirty="0"/>
              <a:t>Les réseaux numériques sont devenus une véritable menace pour la moralité des mineurs avec la montée en puissance de la cyberpornographie </a:t>
            </a:r>
          </a:p>
          <a:p>
            <a:pPr marL="0" indent="0">
              <a:buNone/>
            </a:pPr>
            <a:endParaRPr lang="fr-FR" dirty="0"/>
          </a:p>
        </p:txBody>
      </p:sp>
    </p:spTree>
    <p:extLst>
      <p:ext uri="{BB962C8B-B14F-4D97-AF65-F5344CB8AC3E}">
        <p14:creationId xmlns="" xmlns:p14="http://schemas.microsoft.com/office/powerpoint/2010/main" val="3349372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7604" y="244202"/>
            <a:ext cx="8204466" cy="6284126"/>
          </a:xfrm>
        </p:spPr>
        <p:txBody>
          <a:bodyPr>
            <a:normAutofit/>
          </a:bodyPr>
          <a:lstStyle/>
          <a:p>
            <a:pPr marL="342900" indent="-342900" algn="just">
              <a:lnSpc>
                <a:spcPct val="110000"/>
              </a:lnSpc>
              <a:buFont typeface="Wingdings" charset="2"/>
              <a:buChar char="v"/>
            </a:pPr>
            <a:r>
              <a:rPr lang="fr-FR" sz="2800" b="1" dirty="0">
                <a:solidFill>
                  <a:srgbClr val="FF6600"/>
                </a:solidFill>
              </a:rPr>
              <a:t>P</a:t>
            </a:r>
            <a:r>
              <a:rPr lang="fr-FR" sz="2800" b="1" dirty="0" smtClean="0">
                <a:solidFill>
                  <a:srgbClr val="FF6600"/>
                </a:solidFill>
              </a:rPr>
              <a:t>ornographie </a:t>
            </a:r>
            <a:r>
              <a:rPr lang="fr-FR" sz="2800" b="1" dirty="0">
                <a:solidFill>
                  <a:srgbClr val="FF6600"/>
                </a:solidFill>
              </a:rPr>
              <a:t>enfantine</a:t>
            </a:r>
            <a:r>
              <a:rPr lang="fr-FR" sz="2400" b="1" dirty="0">
                <a:solidFill>
                  <a:srgbClr val="FF6600"/>
                </a:solidFill>
              </a:rPr>
              <a:t> </a:t>
            </a:r>
            <a:endParaRPr lang="fr-FR" sz="2400" dirty="0" smtClean="0"/>
          </a:p>
          <a:p>
            <a:pPr algn="just">
              <a:lnSpc>
                <a:spcPct val="110000"/>
              </a:lnSpc>
            </a:pPr>
            <a:r>
              <a:rPr lang="fr-FR" sz="2800" dirty="0" smtClean="0"/>
              <a:t>Selon </a:t>
            </a:r>
            <a:r>
              <a:rPr lang="fr-FR" sz="2800" dirty="0"/>
              <a:t>l’article 431-7 du Code pénal </a:t>
            </a:r>
            <a:r>
              <a:rPr lang="fr-FR" sz="2800" dirty="0" smtClean="0"/>
              <a:t>sénégalais, </a:t>
            </a:r>
            <a:r>
              <a:rPr lang="fr-FR" sz="2800" dirty="0"/>
              <a:t>la « </a:t>
            </a:r>
            <a:r>
              <a:rPr lang="fr-FR" sz="2800" b="1" dirty="0">
                <a:solidFill>
                  <a:srgbClr val="FF6600"/>
                </a:solidFill>
              </a:rPr>
              <a:t>pornographie enfantine »</a:t>
            </a:r>
            <a:r>
              <a:rPr lang="fr-FR" sz="2800" dirty="0"/>
              <a:t>  vise : « </a:t>
            </a:r>
            <a:r>
              <a:rPr lang="fr-FR" sz="2800" i="1" dirty="0"/>
              <a:t>toute donnée quelle qu’en soit la nature ou la forme représentant de manière visuelle un mineur se livrant à un agissement sexuellement explicite ou des images réalistes représentant un mineur se livrant à un comportement sexuellement explicite</a:t>
            </a:r>
            <a:r>
              <a:rPr lang="fr-FR" sz="2800" dirty="0"/>
              <a:t> ». </a:t>
            </a:r>
          </a:p>
          <a:p>
            <a:pPr algn="just">
              <a:lnSpc>
                <a:spcPct val="110000"/>
              </a:lnSpc>
            </a:pPr>
            <a:endParaRPr lang="fr-FR" sz="2800" dirty="0" smtClean="0"/>
          </a:p>
          <a:p>
            <a:pPr algn="just">
              <a:lnSpc>
                <a:spcPct val="110000"/>
              </a:lnSpc>
            </a:pPr>
            <a:r>
              <a:rPr lang="fr-FR" sz="2800" dirty="0"/>
              <a:t>Le  « </a:t>
            </a:r>
            <a:r>
              <a:rPr lang="fr-FR" sz="3600" i="1" dirty="0"/>
              <a:t>mineur</a:t>
            </a:r>
            <a:r>
              <a:rPr lang="fr-FR" sz="3600" dirty="0"/>
              <a:t> » est </a:t>
            </a:r>
            <a:r>
              <a:rPr lang="fr-FR" sz="3600" i="1" dirty="0"/>
              <a:t>« toute personne âgée de moins de 18 ans, au sens de la convention des Nations Unies sur les droits de l’enfant</a:t>
            </a:r>
            <a:r>
              <a:rPr lang="fr-FR" sz="3600" dirty="0"/>
              <a:t> » </a:t>
            </a:r>
            <a:r>
              <a:rPr lang="fr-FR" sz="2000" dirty="0" smtClean="0">
                <a:solidFill>
                  <a:srgbClr val="FF6600"/>
                </a:solidFill>
              </a:rPr>
              <a:t>conformément </a:t>
            </a:r>
            <a:r>
              <a:rPr lang="fr-FR" sz="2000" dirty="0">
                <a:solidFill>
                  <a:srgbClr val="FF6600"/>
                </a:solidFill>
              </a:rPr>
              <a:t>à l’article </a:t>
            </a:r>
            <a:r>
              <a:rPr lang="fr-FR" sz="2000" b="1" dirty="0">
                <a:solidFill>
                  <a:srgbClr val="FF6600"/>
                </a:solidFill>
              </a:rPr>
              <a:t>276</a:t>
            </a:r>
            <a:r>
              <a:rPr lang="fr-FR" sz="2000" dirty="0">
                <a:solidFill>
                  <a:srgbClr val="FF6600"/>
                </a:solidFill>
              </a:rPr>
              <a:t> du Code de la Famille du Sénégal.</a:t>
            </a:r>
            <a:endParaRPr lang="fr-FR" sz="2800" dirty="0">
              <a:solidFill>
                <a:srgbClr val="FF6600"/>
              </a:solidFill>
            </a:endParaRPr>
          </a:p>
          <a:p>
            <a:pPr algn="just">
              <a:lnSpc>
                <a:spcPct val="110000"/>
              </a:lnSpc>
            </a:pPr>
            <a:endParaRPr lang="fr-FR" sz="2800" dirty="0"/>
          </a:p>
        </p:txBody>
      </p:sp>
    </p:spTree>
    <p:extLst>
      <p:ext uri="{BB962C8B-B14F-4D97-AF65-F5344CB8AC3E}">
        <p14:creationId xmlns="" xmlns:p14="http://schemas.microsoft.com/office/powerpoint/2010/main" val="17489744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0" y="179081"/>
            <a:ext cx="8229600" cy="6678919"/>
          </a:xfrm>
        </p:spPr>
        <p:txBody>
          <a:bodyPr>
            <a:normAutofit/>
          </a:bodyPr>
          <a:lstStyle/>
          <a:p>
            <a:pPr algn="ctr"/>
            <a:r>
              <a:rPr lang="fr-FR" sz="2800" b="1" dirty="0"/>
              <a:t>L</a:t>
            </a:r>
            <a:r>
              <a:rPr lang="fr-FR" sz="2800" b="1" dirty="0" smtClean="0"/>
              <a:t>e </a:t>
            </a:r>
            <a:r>
              <a:rPr lang="fr-FR" sz="2800" b="1" dirty="0"/>
              <a:t>législateur a tenté de protéger les mineurs </a:t>
            </a:r>
            <a:r>
              <a:rPr lang="fr-FR" sz="2800" b="1" dirty="0" smtClean="0"/>
              <a:t>contre : </a:t>
            </a:r>
          </a:p>
          <a:p>
            <a:pPr lvl="0" algn="just"/>
            <a:endParaRPr lang="fr-FR" sz="2800" b="1" dirty="0" smtClean="0"/>
          </a:p>
          <a:p>
            <a:pPr marL="457200" lvl="0" indent="-457200" algn="just">
              <a:buFont typeface="Arial"/>
              <a:buChar char="•"/>
            </a:pPr>
            <a:r>
              <a:rPr lang="fr-FR" sz="2800" b="1" dirty="0" smtClean="0">
                <a:solidFill>
                  <a:schemeClr val="accent1">
                    <a:lumMod val="60000"/>
                    <a:lumOff val="40000"/>
                  </a:schemeClr>
                </a:solidFill>
              </a:rPr>
              <a:t>Le </a:t>
            </a:r>
            <a:r>
              <a:rPr lang="fr-FR" sz="2800" b="1" dirty="0">
                <a:solidFill>
                  <a:schemeClr val="accent1">
                    <a:lumMod val="60000"/>
                    <a:lumOff val="40000"/>
                  </a:schemeClr>
                </a:solidFill>
              </a:rPr>
              <a:t>risque d’exploitation sexuelle des mineurs</a:t>
            </a:r>
            <a:r>
              <a:rPr lang="fr-FR" sz="2800" b="1" dirty="0">
                <a:solidFill>
                  <a:srgbClr val="FF6600"/>
                </a:solidFill>
              </a:rPr>
              <a:t>                                                                                                                                                       </a:t>
            </a:r>
            <a:endParaRPr lang="fr-FR" sz="2800" dirty="0">
              <a:solidFill>
                <a:srgbClr val="FF6600"/>
              </a:solidFill>
            </a:endParaRPr>
          </a:p>
          <a:p>
            <a:pPr algn="just"/>
            <a:r>
              <a:rPr lang="fr-FR" sz="2400" dirty="0"/>
              <a:t>L’article 431-34 du Code pénal sénégalais incrimine la production, l’enregistrement, l’offre, la mise à disposition, la diffusion, la transmission d’une image ou une représentation présentant un caractère de pornographie enfantine par le biais d’un système informatique </a:t>
            </a:r>
            <a:endParaRPr lang="fr-FR" sz="2400" dirty="0" smtClean="0"/>
          </a:p>
          <a:p>
            <a:pPr algn="just"/>
            <a:r>
              <a:rPr lang="fr-FR" sz="2800" dirty="0">
                <a:solidFill>
                  <a:srgbClr val="F3302F"/>
                </a:solidFill>
              </a:rPr>
              <a:t>Au titre des comportements des consommateurs </a:t>
            </a:r>
            <a:r>
              <a:rPr lang="fr-FR" sz="2800" dirty="0"/>
              <a:t>de </a:t>
            </a:r>
            <a:r>
              <a:rPr lang="fr-FR" sz="2400" dirty="0"/>
              <a:t>pornographie enfantine, l’article 431-35 du Code pénal du Sénégal vise l’action de se procurer à soi-même ou à autrui, l’importation ou l’exportation d’une image ou une représentation présentant un caractère de pornographie infantile par le biais d’un système informatique. </a:t>
            </a:r>
          </a:p>
          <a:p>
            <a:pPr algn="just"/>
            <a:r>
              <a:rPr lang="fr-FR" sz="2400" dirty="0"/>
              <a:t>En outre, l’article  431-36 du Code pénal du Sénégal, pénalise l</a:t>
            </a:r>
            <a:r>
              <a:rPr lang="fr-FR" sz="2400" dirty="0">
                <a:solidFill>
                  <a:srgbClr val="F3302F"/>
                </a:solidFill>
              </a:rPr>
              <a:t>a possession </a:t>
            </a:r>
            <a:r>
              <a:rPr lang="fr-FR" sz="2400" dirty="0" smtClean="0">
                <a:solidFill>
                  <a:srgbClr val="F3302F"/>
                </a:solidFill>
              </a:rPr>
              <a:t>dans un moyen </a:t>
            </a:r>
            <a:r>
              <a:rPr lang="fr-FR" sz="2400" dirty="0">
                <a:solidFill>
                  <a:srgbClr val="F3302F"/>
                </a:solidFill>
              </a:rPr>
              <a:t>quelconque de stockage de données informatisées (CD, disque dur, clé USB…).</a:t>
            </a:r>
          </a:p>
          <a:p>
            <a:pPr algn="just"/>
            <a:endParaRPr lang="fr-FR" sz="2800" b="1" dirty="0"/>
          </a:p>
        </p:txBody>
      </p:sp>
    </p:spTree>
    <p:extLst>
      <p:ext uri="{BB962C8B-B14F-4D97-AF65-F5344CB8AC3E}">
        <p14:creationId xmlns="" xmlns:p14="http://schemas.microsoft.com/office/powerpoint/2010/main" val="13737357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2814" y="146522"/>
            <a:ext cx="8065200" cy="6528328"/>
          </a:xfrm>
        </p:spPr>
        <p:txBody>
          <a:bodyPr/>
          <a:lstStyle/>
          <a:p>
            <a:pPr marL="0" indent="0" algn="ctr">
              <a:buNone/>
            </a:pPr>
            <a:r>
              <a:rPr lang="fr-FR" sz="2800" b="1" dirty="0"/>
              <a:t>Le législateur a tenté de protéger les mineurs contre : </a:t>
            </a:r>
            <a:endParaRPr lang="fr-FR" sz="2800" b="1" dirty="0" smtClean="0"/>
          </a:p>
          <a:p>
            <a:pPr lvl="0">
              <a:buFont typeface="Arial"/>
              <a:buChar char="•"/>
            </a:pPr>
            <a:r>
              <a:rPr lang="fr-FR" sz="2800" b="1" dirty="0" smtClean="0">
                <a:solidFill>
                  <a:srgbClr val="F3302F"/>
                </a:solidFill>
              </a:rPr>
              <a:t>Le </a:t>
            </a:r>
            <a:r>
              <a:rPr lang="fr-FR" sz="2800" b="1" dirty="0">
                <a:solidFill>
                  <a:srgbClr val="F3302F"/>
                </a:solidFill>
              </a:rPr>
              <a:t>risque d’exposition des mineurs à des contenus </a:t>
            </a:r>
            <a:r>
              <a:rPr lang="fr-FR" sz="2800" b="1" dirty="0" smtClean="0">
                <a:solidFill>
                  <a:srgbClr val="F3302F"/>
                </a:solidFill>
              </a:rPr>
              <a:t>illicites</a:t>
            </a:r>
            <a:endParaRPr lang="fr-FR" sz="2800" dirty="0">
              <a:solidFill>
                <a:srgbClr val="F3302F"/>
              </a:solidFill>
            </a:endParaRPr>
          </a:p>
          <a:p>
            <a:pPr marL="0" indent="0" algn="just">
              <a:lnSpc>
                <a:spcPct val="120000"/>
              </a:lnSpc>
              <a:buNone/>
            </a:pPr>
            <a:r>
              <a:rPr lang="fr-FR" sz="2800" dirty="0"/>
              <a:t>La protection des mineurs contre le risque d’exposition à des contenus à caractère pédopornographique est assurée par le délit de facilitation de l’accès à des images, documents ou représentation présentant un caractère de pornographie infantile à un mineur (article  431-36 al. 2 du Code pénal) </a:t>
            </a:r>
            <a:r>
              <a:rPr lang="fr-FR" dirty="0" smtClean="0">
                <a:solidFill>
                  <a:srgbClr val="F3302F"/>
                </a:solidFill>
              </a:rPr>
              <a:t>(</a:t>
            </a:r>
            <a:r>
              <a:rPr lang="fr-FR" dirty="0">
                <a:solidFill>
                  <a:srgbClr val="F3302F"/>
                </a:solidFill>
              </a:rPr>
              <a:t>Ce délit est une particularité de la législation </a:t>
            </a:r>
            <a:r>
              <a:rPr lang="fr-FR" dirty="0" smtClean="0">
                <a:solidFill>
                  <a:srgbClr val="F3302F"/>
                </a:solidFill>
              </a:rPr>
              <a:t>sénégalaise), Obligations aux FAI de mettre de proxy;</a:t>
            </a:r>
          </a:p>
        </p:txBody>
      </p:sp>
    </p:spTree>
    <p:extLst>
      <p:ext uri="{BB962C8B-B14F-4D97-AF65-F5344CB8AC3E}">
        <p14:creationId xmlns="" xmlns:p14="http://schemas.microsoft.com/office/powerpoint/2010/main" val="13067560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3565" y="503238"/>
            <a:ext cx="8222069" cy="868362"/>
          </a:xfrm>
        </p:spPr>
        <p:txBody>
          <a:bodyPr/>
          <a:lstStyle/>
          <a:p>
            <a:r>
              <a:rPr lang="fr-FR" sz="3600" b="1" dirty="0"/>
              <a:t>B</a:t>
            </a:r>
            <a:r>
              <a:rPr lang="fr-FR" sz="3200" b="1" dirty="0"/>
              <a:t>- Les TIC : un moyen de commission d’infractions de presse</a:t>
            </a:r>
            <a:r>
              <a:rPr lang="fr-FR" sz="4800" b="1" dirty="0"/>
              <a:t/>
            </a:r>
            <a:br>
              <a:rPr lang="fr-FR" sz="4800" b="1" dirty="0"/>
            </a:br>
            <a:endParaRPr lang="fr-FR" dirty="0"/>
          </a:p>
        </p:txBody>
      </p:sp>
      <p:sp>
        <p:nvSpPr>
          <p:cNvPr id="3" name="Espace réservé du contenu 2"/>
          <p:cNvSpPr>
            <a:spLocks noGrp="1"/>
          </p:cNvSpPr>
          <p:nvPr>
            <p:ph idx="1"/>
          </p:nvPr>
        </p:nvSpPr>
        <p:spPr>
          <a:xfrm>
            <a:off x="227940" y="1371600"/>
            <a:ext cx="8547694" cy="5270688"/>
          </a:xfrm>
        </p:spPr>
        <p:txBody>
          <a:bodyPr>
            <a:normAutofit fontScale="85000" lnSpcReduction="10000"/>
          </a:bodyPr>
          <a:lstStyle/>
          <a:p>
            <a:pPr marL="0" indent="0" algn="just">
              <a:lnSpc>
                <a:spcPct val="130000"/>
              </a:lnSpc>
              <a:buNone/>
            </a:pPr>
            <a:r>
              <a:rPr lang="fr-FR" sz="3200" dirty="0" smtClean="0"/>
              <a:t>Les </a:t>
            </a:r>
            <a:r>
              <a:rPr lang="fr-FR" sz="3200" dirty="0"/>
              <a:t>sites web sénégalais ( </a:t>
            </a:r>
            <a:r>
              <a:rPr lang="fr-FR" sz="3200" dirty="0" err="1"/>
              <a:t>Dakaractu.com</a:t>
            </a:r>
            <a:r>
              <a:rPr lang="fr-FR" sz="3200" dirty="0"/>
              <a:t> ; </a:t>
            </a:r>
            <a:r>
              <a:rPr lang="fr-FR" sz="3200" dirty="0" err="1"/>
              <a:t>senewe.com</a:t>
            </a:r>
            <a:r>
              <a:rPr lang="fr-FR" sz="3200" dirty="0"/>
              <a:t>…) sont souvent une occasion de propager des messages illicites ou attentatoires à l’honneur et à la dignité des personnes. </a:t>
            </a:r>
            <a:endParaRPr lang="fr-FR" sz="3200" dirty="0" smtClean="0"/>
          </a:p>
          <a:p>
            <a:pPr marL="0" indent="0" algn="just">
              <a:lnSpc>
                <a:spcPct val="110000"/>
              </a:lnSpc>
              <a:buNone/>
            </a:pPr>
            <a:r>
              <a:rPr lang="fr-FR" sz="3200" dirty="0" smtClean="0"/>
              <a:t>Il </a:t>
            </a:r>
            <a:r>
              <a:rPr lang="fr-FR" sz="3200" dirty="0"/>
              <a:t>s’agit </a:t>
            </a:r>
            <a:r>
              <a:rPr lang="fr-FR" sz="3200" dirty="0" smtClean="0"/>
              <a:t>notamment : </a:t>
            </a:r>
          </a:p>
          <a:p>
            <a:pPr algn="just">
              <a:lnSpc>
                <a:spcPct val="110000"/>
              </a:lnSpc>
              <a:buFont typeface="Arial"/>
              <a:buChar char="•"/>
            </a:pPr>
            <a:r>
              <a:rPr lang="fr-FR" sz="3200" dirty="0" smtClean="0">
                <a:solidFill>
                  <a:srgbClr val="6C4FFF"/>
                </a:solidFill>
              </a:rPr>
              <a:t>diffamation</a:t>
            </a:r>
            <a:r>
              <a:rPr lang="fr-FR" sz="3200" dirty="0">
                <a:solidFill>
                  <a:srgbClr val="6C4FFF"/>
                </a:solidFill>
              </a:rPr>
              <a:t>, </a:t>
            </a:r>
            <a:endParaRPr lang="fr-FR" sz="3200" dirty="0" smtClean="0">
              <a:solidFill>
                <a:srgbClr val="6C4FFF"/>
              </a:solidFill>
            </a:endParaRPr>
          </a:p>
          <a:p>
            <a:pPr algn="just">
              <a:lnSpc>
                <a:spcPct val="110000"/>
              </a:lnSpc>
              <a:buFont typeface="Arial"/>
              <a:buChar char="•"/>
            </a:pPr>
            <a:r>
              <a:rPr lang="fr-FR" sz="3200" dirty="0" smtClean="0">
                <a:solidFill>
                  <a:srgbClr val="6C4FFF"/>
                </a:solidFill>
              </a:rPr>
              <a:t>d’injures</a:t>
            </a:r>
            <a:r>
              <a:rPr lang="fr-FR" sz="3200" dirty="0">
                <a:solidFill>
                  <a:srgbClr val="6C4FFF"/>
                </a:solidFill>
              </a:rPr>
              <a:t>, </a:t>
            </a:r>
            <a:endParaRPr lang="fr-FR" sz="3200" dirty="0" smtClean="0">
              <a:solidFill>
                <a:srgbClr val="6C4FFF"/>
              </a:solidFill>
            </a:endParaRPr>
          </a:p>
          <a:p>
            <a:pPr algn="just">
              <a:lnSpc>
                <a:spcPct val="110000"/>
              </a:lnSpc>
              <a:buFont typeface="Arial"/>
              <a:buChar char="•"/>
            </a:pPr>
            <a:r>
              <a:rPr lang="fr-FR" sz="3200" dirty="0" smtClean="0">
                <a:solidFill>
                  <a:srgbClr val="6C4FFF"/>
                </a:solidFill>
              </a:rPr>
              <a:t>de </a:t>
            </a:r>
            <a:r>
              <a:rPr lang="fr-FR" sz="3200" dirty="0">
                <a:solidFill>
                  <a:srgbClr val="6C4FFF"/>
                </a:solidFill>
              </a:rPr>
              <a:t>diffusion de fausses nouvelles, </a:t>
            </a:r>
            <a:endParaRPr lang="fr-FR" sz="3200" dirty="0" smtClean="0">
              <a:solidFill>
                <a:srgbClr val="6C4FFF"/>
              </a:solidFill>
            </a:endParaRPr>
          </a:p>
          <a:p>
            <a:pPr algn="just">
              <a:lnSpc>
                <a:spcPct val="110000"/>
              </a:lnSpc>
              <a:buFont typeface="Arial"/>
              <a:buChar char="•"/>
            </a:pPr>
            <a:r>
              <a:rPr lang="fr-FR" sz="3200" dirty="0" smtClean="0">
                <a:solidFill>
                  <a:srgbClr val="6C4FFF"/>
                </a:solidFill>
              </a:rPr>
              <a:t>d’offense </a:t>
            </a:r>
            <a:r>
              <a:rPr lang="fr-FR" sz="3200" dirty="0">
                <a:solidFill>
                  <a:srgbClr val="6C4FFF"/>
                </a:solidFill>
              </a:rPr>
              <a:t>au Chef de l’État etc… </a:t>
            </a:r>
            <a:endParaRPr lang="fr-FR" sz="3200" dirty="0" smtClean="0">
              <a:solidFill>
                <a:srgbClr val="6C4FFF"/>
              </a:solidFill>
            </a:endParaRPr>
          </a:p>
          <a:p>
            <a:pPr marL="0" indent="0" algn="just">
              <a:lnSpc>
                <a:spcPct val="110000"/>
              </a:lnSpc>
              <a:buNone/>
            </a:pPr>
            <a:endParaRPr lang="fr-FR" sz="3200" dirty="0" smtClean="0"/>
          </a:p>
          <a:p>
            <a:pPr marL="0" indent="0" algn="just">
              <a:lnSpc>
                <a:spcPct val="110000"/>
              </a:lnSpc>
              <a:buNone/>
            </a:pPr>
            <a:endParaRPr lang="fr-FR" dirty="0">
              <a:solidFill>
                <a:srgbClr val="F3302F"/>
              </a:solidFill>
            </a:endParaRPr>
          </a:p>
          <a:p>
            <a:endParaRPr lang="fr-FR" dirty="0"/>
          </a:p>
        </p:txBody>
      </p:sp>
    </p:spTree>
    <p:extLst>
      <p:ext uri="{BB962C8B-B14F-4D97-AF65-F5344CB8AC3E}">
        <p14:creationId xmlns="" xmlns:p14="http://schemas.microsoft.com/office/powerpoint/2010/main" val="2078266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0" y="227923"/>
            <a:ext cx="8905885" cy="1383810"/>
          </a:xfrm>
        </p:spPr>
        <p:txBody>
          <a:bodyPr/>
          <a:lstStyle/>
          <a:p>
            <a:pPr algn="ctr"/>
            <a:r>
              <a:rPr lang="fr-FR" sz="2800" b="1" dirty="0"/>
              <a:t>CHAPITRE III-  LES DONNEES À CARACTERE PERSONNEL</a:t>
            </a:r>
            <a:r>
              <a:rPr lang="fr-FR" sz="4800" b="1" dirty="0"/>
              <a:t> </a:t>
            </a:r>
            <a:endParaRPr lang="fr-FR" dirty="0"/>
          </a:p>
        </p:txBody>
      </p:sp>
      <p:sp>
        <p:nvSpPr>
          <p:cNvPr id="3" name="Sous-titre 2"/>
          <p:cNvSpPr>
            <a:spLocks noGrp="1"/>
          </p:cNvSpPr>
          <p:nvPr>
            <p:ph type="subTitle" idx="1"/>
          </p:nvPr>
        </p:nvSpPr>
        <p:spPr>
          <a:xfrm>
            <a:off x="1009441" y="1611733"/>
            <a:ext cx="7896443" cy="5063116"/>
          </a:xfrm>
        </p:spPr>
        <p:txBody>
          <a:bodyPr>
            <a:normAutofit/>
          </a:bodyPr>
          <a:lstStyle/>
          <a:p>
            <a:pPr algn="just">
              <a:lnSpc>
                <a:spcPct val="120000"/>
              </a:lnSpc>
            </a:pPr>
            <a:r>
              <a:rPr lang="fr-FR" sz="2400" dirty="0"/>
              <a:t>Les données à caractère personnel font l’objet d’une protection au Sénégal en </a:t>
            </a:r>
            <a:r>
              <a:rPr lang="fr-FR" sz="2400" dirty="0" smtClean="0"/>
              <a:t>effet:</a:t>
            </a:r>
          </a:p>
          <a:p>
            <a:pPr marL="342900" indent="-342900" algn="just">
              <a:lnSpc>
                <a:spcPct val="120000"/>
              </a:lnSpc>
              <a:buFont typeface="Arial"/>
              <a:buChar char="•"/>
            </a:pPr>
            <a:r>
              <a:rPr lang="fr-FR" sz="2400" b="1" dirty="0" smtClean="0">
                <a:solidFill>
                  <a:srgbClr val="FF6600"/>
                </a:solidFill>
              </a:rPr>
              <a:t>la </a:t>
            </a:r>
            <a:r>
              <a:rPr lang="fr-FR" sz="2400" b="1" dirty="0">
                <a:solidFill>
                  <a:srgbClr val="FF6600"/>
                </a:solidFill>
              </a:rPr>
              <a:t>loi </a:t>
            </a:r>
            <a:r>
              <a:rPr lang="fr-FR" sz="2400" b="1" dirty="0" smtClean="0">
                <a:solidFill>
                  <a:srgbClr val="FF6600"/>
                </a:solidFill>
              </a:rPr>
              <a:t>n°</a:t>
            </a:r>
            <a:r>
              <a:rPr lang="fr-FR" sz="2400" b="1" dirty="0">
                <a:solidFill>
                  <a:srgbClr val="FF6600"/>
                </a:solidFill>
              </a:rPr>
              <a:t> </a:t>
            </a:r>
            <a:r>
              <a:rPr lang="fr-FR" sz="2400" b="1" dirty="0" smtClean="0">
                <a:solidFill>
                  <a:srgbClr val="FF6600"/>
                </a:solidFill>
              </a:rPr>
              <a:t> </a:t>
            </a:r>
            <a:r>
              <a:rPr lang="fr-FR" sz="2400" b="1" dirty="0">
                <a:solidFill>
                  <a:srgbClr val="FF6600"/>
                </a:solidFill>
              </a:rPr>
              <a:t>2008-12 du 25 janvier 2008 </a:t>
            </a:r>
            <a:endParaRPr lang="fr-FR" sz="2400" b="1" dirty="0" smtClean="0">
              <a:solidFill>
                <a:srgbClr val="FF6600"/>
              </a:solidFill>
            </a:endParaRPr>
          </a:p>
          <a:p>
            <a:pPr marL="342900" indent="-342900" algn="just">
              <a:lnSpc>
                <a:spcPct val="120000"/>
              </a:lnSpc>
              <a:buFont typeface="Arial"/>
              <a:buChar char="•"/>
            </a:pPr>
            <a:r>
              <a:rPr lang="fr-FR" sz="2400" b="1" dirty="0" smtClean="0">
                <a:solidFill>
                  <a:srgbClr val="FF6600"/>
                </a:solidFill>
              </a:rPr>
              <a:t>le </a:t>
            </a:r>
            <a:r>
              <a:rPr lang="fr-FR" sz="2400" b="1" dirty="0">
                <a:solidFill>
                  <a:srgbClr val="FF6600"/>
                </a:solidFill>
              </a:rPr>
              <a:t>décret </a:t>
            </a:r>
            <a:r>
              <a:rPr lang="fr-FR" sz="2400" b="1" dirty="0" smtClean="0">
                <a:solidFill>
                  <a:srgbClr val="FF6600"/>
                </a:solidFill>
              </a:rPr>
              <a:t>n°</a:t>
            </a:r>
            <a:r>
              <a:rPr lang="fr-FR" sz="2400" b="1" dirty="0">
                <a:solidFill>
                  <a:srgbClr val="FF6600"/>
                </a:solidFill>
              </a:rPr>
              <a:t> : 2008-731 du 30 juin 2008 sont les textes de bases de la protection à caractères personnel au Sénégal. </a:t>
            </a:r>
            <a:endParaRPr lang="fr-FR" sz="2400" b="1" dirty="0" smtClean="0">
              <a:solidFill>
                <a:srgbClr val="FF6600"/>
              </a:solidFill>
            </a:endParaRPr>
          </a:p>
          <a:p>
            <a:pPr algn="ctr">
              <a:lnSpc>
                <a:spcPct val="120000"/>
              </a:lnSpc>
            </a:pPr>
            <a:r>
              <a:rPr lang="fr-FR" sz="2400" b="1" dirty="0" smtClean="0"/>
              <a:t>Définition concept</a:t>
            </a:r>
          </a:p>
          <a:p>
            <a:pPr algn="just">
              <a:lnSpc>
                <a:spcPct val="120000"/>
              </a:lnSpc>
            </a:pPr>
            <a:r>
              <a:rPr lang="fr-FR" sz="2400" dirty="0" smtClean="0"/>
              <a:t>« </a:t>
            </a:r>
            <a:r>
              <a:rPr lang="fr-FR" sz="2400" b="1" dirty="0" smtClean="0"/>
              <a:t>toute </a:t>
            </a:r>
            <a:r>
              <a:rPr lang="fr-FR" sz="2400" b="1" dirty="0"/>
              <a:t>information relative à une personne physique identifié ou identifiable, directement ou indirectement par référence à un numéro d’identification ou à un ou plusieurs éléments propres à son identité physique, physiologique, génétique, psychique, culturel, social ou </a:t>
            </a:r>
            <a:r>
              <a:rPr lang="fr-FR" sz="2400" b="1" dirty="0" smtClean="0"/>
              <a:t>économique</a:t>
            </a:r>
            <a:r>
              <a:rPr lang="fr-FR" sz="2400" dirty="0" smtClean="0"/>
              <a:t> »</a:t>
            </a:r>
            <a:endParaRPr lang="fr-FR" sz="2400" dirty="0"/>
          </a:p>
          <a:p>
            <a:pPr algn="ctr">
              <a:lnSpc>
                <a:spcPct val="120000"/>
              </a:lnSpc>
            </a:pPr>
            <a:endParaRPr lang="fr-FR" sz="2400" b="1" dirty="0"/>
          </a:p>
        </p:txBody>
      </p:sp>
    </p:spTree>
    <p:extLst>
      <p:ext uri="{BB962C8B-B14F-4D97-AF65-F5344CB8AC3E}">
        <p14:creationId xmlns="" xmlns:p14="http://schemas.microsoft.com/office/powerpoint/2010/main" val="36531436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309322"/>
            <a:ext cx="8987292" cy="6381807"/>
          </a:xfrm>
        </p:spPr>
        <p:txBody>
          <a:bodyPr/>
          <a:lstStyle/>
          <a:p>
            <a:pPr marL="0" indent="0" algn="ctr">
              <a:buNone/>
            </a:pPr>
            <a:r>
              <a:rPr lang="fr-FR" sz="2800" b="1" dirty="0"/>
              <a:t>En </a:t>
            </a:r>
            <a:r>
              <a:rPr lang="fr-FR" sz="2800" b="1" dirty="0" smtClean="0"/>
              <a:t>résumé </a:t>
            </a:r>
          </a:p>
          <a:p>
            <a:pPr marL="0" indent="0" algn="just">
              <a:lnSpc>
                <a:spcPct val="110000"/>
              </a:lnSpc>
              <a:buNone/>
            </a:pPr>
            <a:r>
              <a:rPr lang="fr-FR" sz="3200" dirty="0" smtClean="0"/>
              <a:t>Une </a:t>
            </a:r>
            <a:r>
              <a:rPr lang="fr-FR" sz="3200" dirty="0"/>
              <a:t>donnée à caractère personnel est une information associée à un homme ou bien qui permet d’identifier une personne avec seulement des informations anonyme dont le recoupement permet d’identifier la personne. </a:t>
            </a:r>
            <a:endParaRPr lang="fr-FR" sz="3200" dirty="0" smtClean="0"/>
          </a:p>
          <a:p>
            <a:pPr marL="0" indent="0" algn="just">
              <a:lnSpc>
                <a:spcPct val="110000"/>
              </a:lnSpc>
              <a:buNone/>
            </a:pPr>
            <a:r>
              <a:rPr lang="fr-FR" sz="3200" dirty="0"/>
              <a:t>A ce titre, la loi a prévu </a:t>
            </a:r>
            <a:r>
              <a:rPr lang="fr-FR" sz="3200" dirty="0" smtClean="0"/>
              <a:t>certains:</a:t>
            </a:r>
          </a:p>
          <a:p>
            <a:pPr algn="just">
              <a:lnSpc>
                <a:spcPct val="110000"/>
              </a:lnSpc>
              <a:buFont typeface="Arial"/>
              <a:buChar char="•"/>
            </a:pPr>
            <a:r>
              <a:rPr lang="fr-FR" sz="2800" dirty="0">
                <a:solidFill>
                  <a:srgbClr val="FF0000"/>
                </a:solidFill>
              </a:rPr>
              <a:t>D</a:t>
            </a:r>
            <a:r>
              <a:rPr lang="fr-FR" sz="2800" dirty="0" smtClean="0">
                <a:solidFill>
                  <a:srgbClr val="FF0000"/>
                </a:solidFill>
              </a:rPr>
              <a:t>roits </a:t>
            </a:r>
            <a:r>
              <a:rPr lang="fr-FR" sz="2800" dirty="0">
                <a:solidFill>
                  <a:srgbClr val="FF0000"/>
                </a:solidFill>
              </a:rPr>
              <a:t>pour les personnes dont les données sont traitées </a:t>
            </a:r>
            <a:endParaRPr lang="fr-FR" sz="2800" dirty="0" smtClean="0">
              <a:solidFill>
                <a:srgbClr val="FF0000"/>
              </a:solidFill>
            </a:endParaRPr>
          </a:p>
          <a:p>
            <a:pPr algn="just">
              <a:lnSpc>
                <a:spcPct val="110000"/>
              </a:lnSpc>
              <a:buFont typeface="Arial"/>
              <a:buChar char="•"/>
            </a:pPr>
            <a:r>
              <a:rPr lang="fr-FR" sz="2800" dirty="0">
                <a:solidFill>
                  <a:srgbClr val="FF0000"/>
                </a:solidFill>
              </a:rPr>
              <a:t>O</a:t>
            </a:r>
            <a:r>
              <a:rPr lang="fr-FR" sz="2800" dirty="0" smtClean="0">
                <a:solidFill>
                  <a:srgbClr val="FF0000"/>
                </a:solidFill>
              </a:rPr>
              <a:t>bligations </a:t>
            </a:r>
            <a:r>
              <a:rPr lang="fr-FR" sz="2800" dirty="0">
                <a:solidFill>
                  <a:srgbClr val="FF0000"/>
                </a:solidFill>
              </a:rPr>
              <a:t>au responsable de traitement  </a:t>
            </a:r>
          </a:p>
          <a:p>
            <a:pPr marL="0" indent="0" algn="just">
              <a:lnSpc>
                <a:spcPct val="110000"/>
              </a:lnSpc>
              <a:buNone/>
            </a:pPr>
            <a:endParaRPr lang="fr-FR" dirty="0"/>
          </a:p>
        </p:txBody>
      </p:sp>
    </p:spTree>
    <p:extLst>
      <p:ext uri="{BB962C8B-B14F-4D97-AF65-F5344CB8AC3E}">
        <p14:creationId xmlns="" xmlns:p14="http://schemas.microsoft.com/office/powerpoint/2010/main" val="14523333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1658" y="203200"/>
            <a:ext cx="8932342" cy="855009"/>
          </a:xfrm>
        </p:spPr>
        <p:txBody>
          <a:bodyPr/>
          <a:lstStyle/>
          <a:p>
            <a:pPr marL="457200" lvl="0" indent="-457200">
              <a:buFont typeface="Wingdings" charset="2"/>
              <a:buChar char=""/>
            </a:pPr>
            <a:r>
              <a:rPr lang="fr-FR" sz="2400" b="1" dirty="0"/>
              <a:t>Les droits conférés à la personne dont les données sont traitées </a:t>
            </a:r>
            <a:r>
              <a:rPr lang="fr-FR" sz="4400" dirty="0"/>
              <a:t/>
            </a:r>
            <a:br>
              <a:rPr lang="fr-FR" sz="4400" dirty="0"/>
            </a:br>
            <a:endParaRPr lang="fr-FR" sz="4400" dirty="0"/>
          </a:p>
        </p:txBody>
      </p:sp>
      <p:sp>
        <p:nvSpPr>
          <p:cNvPr id="3" name="Espace réservé du contenu 2"/>
          <p:cNvSpPr>
            <a:spLocks noGrp="1"/>
          </p:cNvSpPr>
          <p:nvPr>
            <p:ph idx="1"/>
          </p:nvPr>
        </p:nvSpPr>
        <p:spPr>
          <a:xfrm>
            <a:off x="211658" y="711200"/>
            <a:ext cx="8791916" cy="5931087"/>
          </a:xfrm>
        </p:spPr>
        <p:txBody>
          <a:bodyPr>
            <a:normAutofit fontScale="70000" lnSpcReduction="20000"/>
          </a:bodyPr>
          <a:lstStyle/>
          <a:p>
            <a:pPr marL="0" indent="0">
              <a:buNone/>
            </a:pPr>
            <a:r>
              <a:rPr lang="fr-FR" sz="2600" dirty="0"/>
              <a:t>Ces droits sont </a:t>
            </a:r>
            <a:r>
              <a:rPr lang="fr-FR" sz="2600" dirty="0" smtClean="0"/>
              <a:t>notamment:</a:t>
            </a:r>
          </a:p>
          <a:p>
            <a:pPr>
              <a:buFont typeface="Wingdings" charset="2"/>
              <a:buChar char="ü"/>
            </a:pPr>
            <a:r>
              <a:rPr lang="fr-FR" sz="2900" dirty="0" smtClean="0">
                <a:solidFill>
                  <a:schemeClr val="accent1">
                    <a:lumMod val="60000"/>
                    <a:lumOff val="40000"/>
                  </a:schemeClr>
                </a:solidFill>
              </a:rPr>
              <a:t>Le </a:t>
            </a:r>
            <a:r>
              <a:rPr lang="fr-FR" sz="2900" dirty="0">
                <a:solidFill>
                  <a:schemeClr val="accent1">
                    <a:lumMod val="60000"/>
                    <a:lumOff val="40000"/>
                  </a:schemeClr>
                </a:solidFill>
              </a:rPr>
              <a:t>droit à </a:t>
            </a:r>
            <a:r>
              <a:rPr lang="fr-FR" sz="2900" dirty="0" smtClean="0">
                <a:solidFill>
                  <a:schemeClr val="accent1">
                    <a:lumMod val="60000"/>
                    <a:lumOff val="40000"/>
                  </a:schemeClr>
                </a:solidFill>
              </a:rPr>
              <a:t>l’information: </a:t>
            </a:r>
          </a:p>
          <a:p>
            <a:pPr marL="0" indent="0" algn="just">
              <a:lnSpc>
                <a:spcPct val="110000"/>
              </a:lnSpc>
              <a:buNone/>
            </a:pPr>
            <a:r>
              <a:rPr lang="fr-FR" sz="2800" dirty="0" smtClean="0"/>
              <a:t>C’est </a:t>
            </a:r>
            <a:r>
              <a:rPr lang="fr-FR" sz="2800" dirty="0"/>
              <a:t>le droit pour toute personne de bénéficier au préalable de certaines informations </a:t>
            </a:r>
            <a:endParaRPr lang="fr-FR" sz="2600" dirty="0" smtClean="0">
              <a:solidFill>
                <a:schemeClr val="accent1">
                  <a:lumMod val="60000"/>
                  <a:lumOff val="40000"/>
                </a:schemeClr>
              </a:solidFill>
            </a:endParaRPr>
          </a:p>
          <a:p>
            <a:pPr algn="just">
              <a:lnSpc>
                <a:spcPct val="110000"/>
              </a:lnSpc>
              <a:buFont typeface="Wingdings" charset="2"/>
              <a:buChar char="ü"/>
            </a:pPr>
            <a:r>
              <a:rPr lang="fr-FR" sz="2900" dirty="0">
                <a:solidFill>
                  <a:schemeClr val="accent1">
                    <a:lumMod val="60000"/>
                    <a:lumOff val="40000"/>
                  </a:schemeClr>
                </a:solidFill>
              </a:rPr>
              <a:t>L</a:t>
            </a:r>
            <a:r>
              <a:rPr lang="fr-FR" sz="2900" dirty="0" smtClean="0">
                <a:solidFill>
                  <a:schemeClr val="accent1">
                    <a:lumMod val="60000"/>
                    <a:lumOff val="40000"/>
                  </a:schemeClr>
                </a:solidFill>
              </a:rPr>
              <a:t>e </a:t>
            </a:r>
            <a:r>
              <a:rPr lang="fr-FR" sz="2900" dirty="0">
                <a:solidFill>
                  <a:schemeClr val="accent1">
                    <a:lumMod val="60000"/>
                    <a:lumOff val="40000"/>
                  </a:schemeClr>
                </a:solidFill>
              </a:rPr>
              <a:t>droit d’accès à </a:t>
            </a:r>
            <a:r>
              <a:rPr lang="fr-FR" sz="2900" dirty="0" smtClean="0">
                <a:solidFill>
                  <a:schemeClr val="accent1">
                    <a:lumMod val="60000"/>
                    <a:lumOff val="40000"/>
                  </a:schemeClr>
                </a:solidFill>
              </a:rPr>
              <a:t>l’information: </a:t>
            </a:r>
          </a:p>
          <a:p>
            <a:pPr marL="0" indent="0" algn="just">
              <a:lnSpc>
                <a:spcPct val="110000"/>
              </a:lnSpc>
              <a:buNone/>
            </a:pPr>
            <a:r>
              <a:rPr lang="fr-FR" sz="2800" dirty="0" smtClean="0"/>
              <a:t>Le </a:t>
            </a:r>
            <a:r>
              <a:rPr lang="fr-FR" sz="2800" dirty="0"/>
              <a:t>droit de demander au responsable de traitement des informations permettant de connaitre et de contester le dit traitement. </a:t>
            </a:r>
          </a:p>
          <a:p>
            <a:pPr algn="just">
              <a:lnSpc>
                <a:spcPct val="110000"/>
              </a:lnSpc>
              <a:buFont typeface="Wingdings" charset="2"/>
              <a:buChar char="ü"/>
            </a:pPr>
            <a:r>
              <a:rPr lang="fr-FR" sz="2900" dirty="0" smtClean="0">
                <a:solidFill>
                  <a:schemeClr val="accent1">
                    <a:lumMod val="60000"/>
                    <a:lumOff val="40000"/>
                  </a:schemeClr>
                </a:solidFill>
              </a:rPr>
              <a:t>Le </a:t>
            </a:r>
            <a:r>
              <a:rPr lang="fr-FR" sz="2900" dirty="0">
                <a:solidFill>
                  <a:schemeClr val="accent1">
                    <a:lumMod val="60000"/>
                    <a:lumOff val="40000"/>
                  </a:schemeClr>
                </a:solidFill>
              </a:rPr>
              <a:t>droit </a:t>
            </a:r>
            <a:r>
              <a:rPr lang="fr-FR" sz="2900" dirty="0" smtClean="0">
                <a:solidFill>
                  <a:schemeClr val="accent1">
                    <a:lumMod val="60000"/>
                    <a:lumOff val="40000"/>
                  </a:schemeClr>
                </a:solidFill>
              </a:rPr>
              <a:t>d’opposition: </a:t>
            </a:r>
          </a:p>
          <a:p>
            <a:pPr marL="0" indent="0" algn="just">
              <a:lnSpc>
                <a:spcPct val="110000"/>
              </a:lnSpc>
              <a:buNone/>
            </a:pPr>
            <a:r>
              <a:rPr lang="fr-FR" sz="2600" dirty="0" smtClean="0"/>
              <a:t>C</a:t>
            </a:r>
            <a:r>
              <a:rPr lang="fr-FR" sz="2600" dirty="0" smtClean="0">
                <a:solidFill>
                  <a:schemeClr val="accent1">
                    <a:lumMod val="60000"/>
                    <a:lumOff val="40000"/>
                  </a:schemeClr>
                </a:solidFill>
              </a:rPr>
              <a:t>’</a:t>
            </a:r>
            <a:r>
              <a:rPr lang="fr-FR" dirty="0" smtClean="0"/>
              <a:t>est </a:t>
            </a:r>
            <a:r>
              <a:rPr lang="fr-FR" dirty="0"/>
              <a:t>le droit pour toute personne pour des motifs légitimes de s’opposer à ce que ses données fassent l’objet d’un traitement. </a:t>
            </a:r>
            <a:endParaRPr lang="fr-FR" sz="2600" dirty="0" smtClean="0">
              <a:solidFill>
                <a:schemeClr val="accent1">
                  <a:lumMod val="60000"/>
                  <a:lumOff val="40000"/>
                </a:schemeClr>
              </a:solidFill>
            </a:endParaRPr>
          </a:p>
          <a:p>
            <a:pPr algn="just">
              <a:lnSpc>
                <a:spcPct val="110000"/>
              </a:lnSpc>
              <a:buFont typeface="Wingdings" charset="2"/>
              <a:buChar char="ü"/>
            </a:pPr>
            <a:r>
              <a:rPr lang="fr-FR" sz="2900" dirty="0" smtClean="0">
                <a:solidFill>
                  <a:schemeClr val="accent1">
                    <a:lumMod val="60000"/>
                    <a:lumOff val="40000"/>
                  </a:schemeClr>
                </a:solidFill>
              </a:rPr>
              <a:t>Le </a:t>
            </a:r>
            <a:r>
              <a:rPr lang="fr-FR" sz="2900" dirty="0">
                <a:solidFill>
                  <a:schemeClr val="accent1">
                    <a:lumMod val="60000"/>
                    <a:lumOff val="40000"/>
                  </a:schemeClr>
                </a:solidFill>
              </a:rPr>
              <a:t>droit de </a:t>
            </a:r>
            <a:r>
              <a:rPr lang="fr-FR" sz="2900" dirty="0" smtClean="0">
                <a:solidFill>
                  <a:schemeClr val="accent1">
                    <a:lumMod val="60000"/>
                    <a:lumOff val="40000"/>
                  </a:schemeClr>
                </a:solidFill>
              </a:rPr>
              <a:t>rectification ou </a:t>
            </a:r>
            <a:r>
              <a:rPr lang="fr-FR" sz="2900" dirty="0">
                <a:solidFill>
                  <a:schemeClr val="accent1">
                    <a:lumMod val="60000"/>
                    <a:lumOff val="40000"/>
                  </a:schemeClr>
                </a:solidFill>
              </a:rPr>
              <a:t>de </a:t>
            </a:r>
            <a:r>
              <a:rPr lang="fr-FR" sz="2900" dirty="0" smtClean="0">
                <a:solidFill>
                  <a:schemeClr val="accent1">
                    <a:lumMod val="60000"/>
                    <a:lumOff val="40000"/>
                  </a:schemeClr>
                </a:solidFill>
              </a:rPr>
              <a:t>suppression: </a:t>
            </a:r>
          </a:p>
          <a:p>
            <a:pPr marL="0" indent="0" algn="just">
              <a:lnSpc>
                <a:spcPct val="110000"/>
              </a:lnSpc>
              <a:buNone/>
            </a:pPr>
            <a:r>
              <a:rPr lang="fr-FR" sz="2600" dirty="0" smtClean="0"/>
              <a:t>permet </a:t>
            </a:r>
            <a:r>
              <a:rPr lang="fr-FR" sz="2600" dirty="0"/>
              <a:t>à toute personne d’exiger du responsable que soient complet, rectifier, mis à jour, verrouiller ou  effacer des données la concernant qui sont inexacte, incomplète, périmé, équivoque, ou dont la collecte ; la communication, l’utilisation ou la conservation est interdite.</a:t>
            </a:r>
          </a:p>
          <a:p>
            <a:pPr>
              <a:buFont typeface="Wingdings" charset="2"/>
              <a:buChar char="ü"/>
            </a:pPr>
            <a:endParaRPr lang="fr-FR" sz="2600" dirty="0" smtClean="0">
              <a:solidFill>
                <a:schemeClr val="accent1">
                  <a:lumMod val="60000"/>
                  <a:lumOff val="40000"/>
                </a:schemeClr>
              </a:solidFill>
            </a:endParaRPr>
          </a:p>
          <a:p>
            <a:pPr>
              <a:buFont typeface="Wingdings" charset="2"/>
              <a:buChar char="ü"/>
            </a:pPr>
            <a:endParaRPr lang="fr-FR" sz="2800" dirty="0"/>
          </a:p>
          <a:p>
            <a:pPr marL="0" indent="0">
              <a:buNone/>
            </a:pPr>
            <a:endParaRPr lang="fr-FR" dirty="0"/>
          </a:p>
        </p:txBody>
      </p:sp>
    </p:spTree>
    <p:extLst>
      <p:ext uri="{BB962C8B-B14F-4D97-AF65-F5344CB8AC3E}">
        <p14:creationId xmlns="" xmlns:p14="http://schemas.microsoft.com/office/powerpoint/2010/main" val="16981322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113771"/>
            <a:ext cx="8669867" cy="868362"/>
          </a:xfrm>
        </p:spPr>
        <p:txBody>
          <a:bodyPr/>
          <a:lstStyle/>
          <a:p>
            <a:pPr marL="571500" lvl="0" indent="-571500">
              <a:buFont typeface="Wingdings" charset="2"/>
              <a:buChar char=""/>
            </a:pPr>
            <a:r>
              <a:rPr lang="fr-FR" sz="3600" b="1" dirty="0"/>
              <a:t>Les obligations imposées au responsable</a:t>
            </a:r>
            <a:r>
              <a:rPr lang="fr-FR" dirty="0"/>
              <a:t/>
            </a:r>
            <a:br>
              <a:rPr lang="fr-FR" dirty="0"/>
            </a:br>
            <a:endParaRPr lang="fr-FR" dirty="0"/>
          </a:p>
        </p:txBody>
      </p:sp>
      <p:sp>
        <p:nvSpPr>
          <p:cNvPr id="3" name="Espace réservé du contenu 2"/>
          <p:cNvSpPr>
            <a:spLocks noGrp="1"/>
          </p:cNvSpPr>
          <p:nvPr>
            <p:ph idx="1"/>
          </p:nvPr>
        </p:nvSpPr>
        <p:spPr>
          <a:xfrm>
            <a:off x="304800" y="728133"/>
            <a:ext cx="8669867" cy="5977467"/>
          </a:xfrm>
        </p:spPr>
        <p:txBody>
          <a:bodyPr>
            <a:normAutofit fontScale="92500"/>
          </a:bodyPr>
          <a:lstStyle/>
          <a:p>
            <a:pPr marL="0" indent="0">
              <a:buNone/>
            </a:pPr>
            <a:r>
              <a:rPr lang="fr-FR" dirty="0"/>
              <a:t>L</a:t>
            </a:r>
            <a:r>
              <a:rPr lang="fr-FR" dirty="0" smtClean="0"/>
              <a:t>a </a:t>
            </a:r>
            <a:r>
              <a:rPr lang="fr-FR" dirty="0"/>
              <a:t>loi impose au responsable de traitement une </a:t>
            </a:r>
            <a:r>
              <a:rPr lang="fr-FR" dirty="0" smtClean="0"/>
              <a:t>obligation:</a:t>
            </a:r>
          </a:p>
          <a:p>
            <a:pPr>
              <a:buFont typeface="Wingdings" charset="2"/>
              <a:buChar char="ü"/>
            </a:pPr>
            <a:r>
              <a:rPr lang="fr-FR" dirty="0" smtClean="0">
                <a:solidFill>
                  <a:srgbClr val="FF0000"/>
                </a:solidFill>
              </a:rPr>
              <a:t>Sécurité:</a:t>
            </a:r>
          </a:p>
          <a:p>
            <a:pPr marL="0" indent="0">
              <a:buNone/>
            </a:pPr>
            <a:r>
              <a:rPr lang="fr-FR" dirty="0"/>
              <a:t>le responsable est tenu de prendre toute précaution utile en matière de sécurité au regard de la nature des données</a:t>
            </a:r>
            <a:r>
              <a:rPr lang="fr-FR" dirty="0" smtClean="0"/>
              <a:t>.</a:t>
            </a:r>
            <a:endParaRPr lang="fr-FR" dirty="0">
              <a:solidFill>
                <a:srgbClr val="FF0000"/>
              </a:solidFill>
            </a:endParaRPr>
          </a:p>
          <a:p>
            <a:pPr>
              <a:buFont typeface="Wingdings" charset="2"/>
              <a:buChar char="ü"/>
            </a:pPr>
            <a:r>
              <a:rPr lang="fr-FR" dirty="0" smtClean="0">
                <a:solidFill>
                  <a:srgbClr val="FF0000"/>
                </a:solidFill>
              </a:rPr>
              <a:t>Confidentialité: </a:t>
            </a:r>
          </a:p>
          <a:p>
            <a:pPr marL="0" indent="0">
              <a:buNone/>
            </a:pPr>
            <a:r>
              <a:rPr lang="fr-FR" dirty="0" smtClean="0"/>
              <a:t>Le </a:t>
            </a:r>
            <a:r>
              <a:rPr lang="fr-FR" dirty="0"/>
              <a:t>traitement des données à caractères personnels est secret et confidentiel </a:t>
            </a:r>
            <a:endParaRPr lang="fr-FR" dirty="0">
              <a:solidFill>
                <a:srgbClr val="FF0000"/>
              </a:solidFill>
            </a:endParaRPr>
          </a:p>
          <a:p>
            <a:pPr>
              <a:buFont typeface="Wingdings" charset="2"/>
              <a:buChar char="ü"/>
            </a:pPr>
            <a:r>
              <a:rPr lang="fr-FR" dirty="0" smtClean="0">
                <a:solidFill>
                  <a:srgbClr val="FF0000"/>
                </a:solidFill>
              </a:rPr>
              <a:t>Pérennité:</a:t>
            </a:r>
          </a:p>
          <a:p>
            <a:pPr marL="0" indent="0">
              <a:buNone/>
            </a:pPr>
            <a:r>
              <a:rPr lang="fr-FR" dirty="0" smtClean="0"/>
              <a:t>le </a:t>
            </a:r>
            <a:r>
              <a:rPr lang="fr-FR" dirty="0"/>
              <a:t>responsable de traitement doit particulièrement s’assurer que l’évolution de la technologie ne sera pas un obstacle  pour toute utilisation ultérieure</a:t>
            </a:r>
            <a:r>
              <a:rPr lang="fr-FR" dirty="0" smtClean="0"/>
              <a:t>.</a:t>
            </a:r>
            <a:endParaRPr lang="fr-FR" dirty="0">
              <a:solidFill>
                <a:srgbClr val="FF0000"/>
              </a:solidFill>
            </a:endParaRPr>
          </a:p>
          <a:p>
            <a:pPr>
              <a:buFont typeface="Wingdings" charset="2"/>
              <a:buChar char="ü"/>
            </a:pPr>
            <a:r>
              <a:rPr lang="fr-FR" dirty="0" smtClean="0">
                <a:solidFill>
                  <a:srgbClr val="FF0000"/>
                </a:solidFill>
              </a:rPr>
              <a:t>Conservation</a:t>
            </a:r>
          </a:p>
          <a:p>
            <a:pPr marL="0" indent="0">
              <a:buNone/>
            </a:pPr>
            <a:r>
              <a:rPr lang="fr-FR" dirty="0"/>
              <a:t>Les DACP ne doivent pas être conservé au de la de la durée nécessaire </a:t>
            </a:r>
            <a:endParaRPr lang="fr-FR" dirty="0">
              <a:solidFill>
                <a:srgbClr val="FF0000"/>
              </a:solidFill>
            </a:endParaRPr>
          </a:p>
          <a:p>
            <a:pPr marL="0" indent="0">
              <a:buNone/>
            </a:pPr>
            <a:endParaRPr lang="fr-FR" dirty="0"/>
          </a:p>
        </p:txBody>
      </p:sp>
    </p:spTree>
    <p:extLst>
      <p:ext uri="{BB962C8B-B14F-4D97-AF65-F5344CB8AC3E}">
        <p14:creationId xmlns="" xmlns:p14="http://schemas.microsoft.com/office/powerpoint/2010/main" val="9586164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35467"/>
            <a:ext cx="9144000" cy="6722533"/>
          </a:xfrm>
        </p:spPr>
        <p:txBody>
          <a:bodyPr>
            <a:normAutofit/>
          </a:bodyPr>
          <a:lstStyle/>
          <a:p>
            <a:pPr marL="0" indent="0" algn="just">
              <a:lnSpc>
                <a:spcPct val="110000"/>
              </a:lnSpc>
              <a:buNone/>
            </a:pPr>
            <a:r>
              <a:rPr lang="fr-FR" dirty="0"/>
              <a:t>Dans le cadre de la sécurisation numérique, il y’a aussi des lois qui porte sur les transactions électronique mais aussi sur la cryptologie. </a:t>
            </a:r>
            <a:endParaRPr lang="fr-FR" dirty="0" smtClean="0"/>
          </a:p>
          <a:p>
            <a:pPr lvl="0" algn="just">
              <a:lnSpc>
                <a:spcPct val="110000"/>
              </a:lnSpc>
              <a:buFont typeface="Wingdings" charset="2"/>
              <a:buChar char="u"/>
            </a:pPr>
            <a:r>
              <a:rPr lang="fr-FR" sz="2000" b="1" dirty="0" smtClean="0"/>
              <a:t>LA CRYPTOLOGIE : </a:t>
            </a:r>
            <a:r>
              <a:rPr lang="fr-FR" dirty="0" smtClean="0"/>
              <a:t>Sénégal </a:t>
            </a:r>
            <a:r>
              <a:rPr lang="fr-FR" dirty="0"/>
              <a:t>la cryptologie est régit par la loi n°2008-41 du 20 Aout 2008 </a:t>
            </a:r>
          </a:p>
          <a:p>
            <a:pPr marL="0" indent="0" algn="just">
              <a:lnSpc>
                <a:spcPct val="110000"/>
              </a:lnSpc>
              <a:buNone/>
            </a:pPr>
            <a:r>
              <a:rPr lang="fr-FR" dirty="0" smtClean="0"/>
              <a:t>Elle est </a:t>
            </a:r>
            <a:r>
              <a:rPr lang="fr-FR" dirty="0"/>
              <a:t>définie comme une technique de protection et sécurisation des informations pour assurer notamment leur confidentialité, leur authentification, leur intégrité et leur non répudiation</a:t>
            </a:r>
            <a:r>
              <a:rPr lang="fr-FR" dirty="0" smtClean="0"/>
              <a:t>.</a:t>
            </a:r>
          </a:p>
          <a:p>
            <a:pPr marL="0" indent="0" algn="just">
              <a:lnSpc>
                <a:spcPct val="110000"/>
              </a:lnSpc>
              <a:buNone/>
            </a:pPr>
            <a:r>
              <a:rPr lang="fr-FR" dirty="0"/>
              <a:t>Elle repose sur des techniques </a:t>
            </a:r>
            <a:r>
              <a:rPr lang="fr-FR" dirty="0">
                <a:solidFill>
                  <a:srgbClr val="FF0000"/>
                </a:solidFill>
              </a:rPr>
              <a:t>chiffrements</a:t>
            </a:r>
            <a:r>
              <a:rPr lang="fr-FR" dirty="0"/>
              <a:t> et </a:t>
            </a:r>
            <a:r>
              <a:rPr lang="fr-FR" dirty="0" smtClean="0">
                <a:solidFill>
                  <a:srgbClr val="FF0000"/>
                </a:solidFill>
              </a:rPr>
              <a:t>déchiffrement.</a:t>
            </a:r>
          </a:p>
          <a:p>
            <a:pPr lvl="0">
              <a:buFont typeface="Wingdings" charset="2"/>
              <a:buChar char="u"/>
            </a:pPr>
            <a:r>
              <a:rPr lang="fr-FR" sz="2000" b="1" dirty="0" smtClean="0"/>
              <a:t>LES TRANSACTIONS ÉLECTRONIQUES :</a:t>
            </a:r>
          </a:p>
          <a:p>
            <a:pPr marL="0" indent="0" algn="just">
              <a:lnSpc>
                <a:spcPct val="120000"/>
              </a:lnSpc>
              <a:buNone/>
            </a:pPr>
            <a:r>
              <a:rPr lang="fr-FR" sz="2800" dirty="0" smtClean="0"/>
              <a:t>Elles </a:t>
            </a:r>
            <a:r>
              <a:rPr lang="fr-FR" sz="2800" dirty="0"/>
              <a:t>renvoient à l’ensemble de la technique électronique informatique et télématique qui permet d’effectuer des transactions commerciales dans un délai relativement cours. </a:t>
            </a:r>
          </a:p>
        </p:txBody>
      </p:sp>
    </p:spTree>
    <p:extLst>
      <p:ext uri="{BB962C8B-B14F-4D97-AF65-F5344CB8AC3E}">
        <p14:creationId xmlns="" xmlns:p14="http://schemas.microsoft.com/office/powerpoint/2010/main" val="32542597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1" y="0"/>
            <a:ext cx="7313613" cy="868362"/>
          </a:xfrm>
        </p:spPr>
        <p:txBody>
          <a:bodyPr/>
          <a:lstStyle/>
          <a:p>
            <a:r>
              <a:rPr lang="fr-FR" b="1" dirty="0" smtClean="0"/>
              <a:t>Les régimes juridiques </a:t>
            </a:r>
            <a:endParaRPr lang="fr-FR" b="1" dirty="0"/>
          </a:p>
        </p:txBody>
      </p:sp>
      <p:sp>
        <p:nvSpPr>
          <p:cNvPr id="3" name="Espace réservé du contenu 2"/>
          <p:cNvSpPr>
            <a:spLocks noGrp="1"/>
          </p:cNvSpPr>
          <p:nvPr>
            <p:ph idx="1"/>
          </p:nvPr>
        </p:nvSpPr>
        <p:spPr>
          <a:xfrm>
            <a:off x="0" y="659567"/>
            <a:ext cx="8949128" cy="5981076"/>
          </a:xfrm>
        </p:spPr>
        <p:txBody>
          <a:bodyPr>
            <a:normAutofit fontScale="92500" lnSpcReduction="10000"/>
          </a:bodyPr>
          <a:lstStyle/>
          <a:p>
            <a:pPr marL="0" indent="0" algn="just">
              <a:buNone/>
            </a:pPr>
            <a:r>
              <a:rPr lang="fr-FR" sz="2900" b="1" dirty="0" smtClean="0"/>
              <a:t>Selon la nature du traitement envisagé, les responsables des traitements opérés pour le compte de l’</a:t>
            </a:r>
            <a:r>
              <a:rPr lang="fr-FR" sz="2900" b="1" dirty="0" err="1" smtClean="0"/>
              <a:t>Etat</a:t>
            </a:r>
            <a:r>
              <a:rPr lang="fr-FR" sz="2900" b="1" dirty="0" smtClean="0"/>
              <a:t> </a:t>
            </a:r>
            <a:r>
              <a:rPr lang="fr-FR" sz="2900" dirty="0" smtClean="0"/>
              <a:t>ou toute </a:t>
            </a:r>
            <a:r>
              <a:rPr lang="fr-FR" sz="2900" dirty="0" smtClean="0">
                <a:solidFill>
                  <a:srgbClr val="FF0000"/>
                </a:solidFill>
              </a:rPr>
              <a:t>personne morale de droit privé</a:t>
            </a:r>
            <a:r>
              <a:rPr lang="fr-FR" sz="2900" dirty="0" smtClean="0"/>
              <a:t> gérant un service public, tout organisme privé, notamment universités privées, écoles privées, associations, sociétés </a:t>
            </a:r>
            <a:r>
              <a:rPr lang="fr-FR" sz="2900" dirty="0" err="1" smtClean="0"/>
              <a:t>it</a:t>
            </a:r>
            <a:r>
              <a:rPr lang="fr-FR" sz="2900" dirty="0" smtClean="0"/>
              <a:t>, syndicats, GIE, ONG, banques, assurances, mutuelles, centres d'appels doivent effectuer au préalable des </a:t>
            </a:r>
            <a:r>
              <a:rPr lang="fr-FR" sz="2900" b="1" dirty="0" smtClean="0">
                <a:solidFill>
                  <a:srgbClr val="FF0000"/>
                </a:solidFill>
              </a:rPr>
              <a:t>formalités</a:t>
            </a:r>
            <a:r>
              <a:rPr lang="fr-FR" sz="2900" dirty="0" smtClean="0"/>
              <a:t> auprès de la Commission</a:t>
            </a:r>
            <a:r>
              <a:rPr lang="fr-FR" sz="2900" dirty="0" smtClean="0"/>
              <a:t>. </a:t>
            </a:r>
            <a:r>
              <a:rPr lang="fr-FR" sz="2900" dirty="0" smtClean="0">
                <a:hlinkClick r:id="rId2"/>
              </a:rPr>
              <a:t>https://www.cdp.sn/liste-des-formulaires</a:t>
            </a:r>
            <a:endParaRPr lang="fr-FR" sz="2900" dirty="0" smtClean="0"/>
          </a:p>
          <a:p>
            <a:pPr marL="0" indent="0" algn="just">
              <a:buNone/>
            </a:pPr>
            <a:r>
              <a:rPr lang="fr-FR" sz="2900" dirty="0" smtClean="0"/>
              <a:t> Plusieurs régimes sont prévus par le législateur:</a:t>
            </a:r>
          </a:p>
          <a:p>
            <a:pPr marL="0" indent="0" algn="just">
              <a:buFont typeface="Arial" pitchFamily="34" charset="0"/>
              <a:buChar char="•"/>
            </a:pPr>
            <a:r>
              <a:rPr lang="fr-FR" sz="2600" b="1" cap="all" dirty="0" smtClean="0"/>
              <a:t> </a:t>
            </a:r>
            <a:r>
              <a:rPr lang="fr-FR" sz="2200" b="1" cap="all" dirty="0" smtClean="0">
                <a:solidFill>
                  <a:srgbClr val="FF0000"/>
                </a:solidFill>
              </a:rPr>
              <a:t>UN REGIME DE DISPENSE;</a:t>
            </a:r>
          </a:p>
          <a:p>
            <a:pPr marL="0" indent="0" algn="just">
              <a:buFont typeface="Arial" pitchFamily="34" charset="0"/>
              <a:buChar char="•"/>
            </a:pPr>
            <a:r>
              <a:rPr lang="fr-FR" sz="2200" b="1" cap="all" dirty="0" smtClean="0">
                <a:solidFill>
                  <a:srgbClr val="FF0000"/>
                </a:solidFill>
              </a:rPr>
              <a:t> UN REGIME D’AUTORISATION;</a:t>
            </a:r>
          </a:p>
          <a:p>
            <a:pPr marL="0" indent="0" algn="just">
              <a:buFont typeface="Arial" pitchFamily="34" charset="0"/>
              <a:buChar char="•"/>
            </a:pPr>
            <a:r>
              <a:rPr lang="fr-FR" sz="2200" b="1" cap="all" dirty="0" smtClean="0">
                <a:solidFill>
                  <a:srgbClr val="FF0000"/>
                </a:solidFill>
              </a:rPr>
              <a:t> UN REGIME DE DEMANDE D’AVIS;</a:t>
            </a:r>
          </a:p>
          <a:p>
            <a:pPr marL="0" indent="0" algn="just">
              <a:buFont typeface="Arial" pitchFamily="34" charset="0"/>
              <a:buChar char="•"/>
            </a:pPr>
            <a:r>
              <a:rPr lang="fr-FR" sz="2200" b="1" cap="all" dirty="0" smtClean="0">
                <a:solidFill>
                  <a:srgbClr val="FF0000"/>
                </a:solidFill>
              </a:rPr>
              <a:t> UN REGIME DE DECLARATION</a:t>
            </a:r>
          </a:p>
          <a:p>
            <a:pPr marL="0" indent="0" algn="just">
              <a:buFont typeface="Arial" pitchFamily="34" charset="0"/>
              <a:buChar char="•"/>
            </a:pPr>
            <a:endParaRPr lang="fr-FR" sz="2600" b="1" cap="all" dirty="0" smtClean="0"/>
          </a:p>
          <a:p>
            <a:pPr marL="0" indent="0" algn="just">
              <a:buFont typeface="Arial" pitchFamily="34" charset="0"/>
              <a:buChar char="•"/>
            </a:pPr>
            <a:endParaRPr lang="fr-FR" sz="2000" b="1" cap="all" dirty="0" smtClean="0"/>
          </a:p>
          <a:p>
            <a:pPr marL="0" indent="0" algn="just">
              <a:buFont typeface="Arial" pitchFamily="34" charset="0"/>
              <a:buChar char="•"/>
            </a:pPr>
            <a:endParaRPr lang="fr-FR" sz="2000" b="1" cap="all" dirty="0" smtClean="0"/>
          </a:p>
          <a:p>
            <a:pPr marL="0" indent="0" algn="just">
              <a:buNone/>
            </a:pPr>
            <a:endParaRPr lang="fr-F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841" y="254833"/>
            <a:ext cx="8664315" cy="6647974"/>
          </a:xfrm>
          <a:prstGeom prst="rect">
            <a:avLst/>
          </a:prstGeom>
        </p:spPr>
        <p:txBody>
          <a:bodyPr wrap="square">
            <a:spAutoFit/>
          </a:bodyPr>
          <a:lstStyle/>
          <a:p>
            <a:pPr algn="ctr">
              <a:buFont typeface="Wingdings" pitchFamily="2" charset="2"/>
              <a:buChar char="Ø"/>
            </a:pPr>
            <a:r>
              <a:rPr lang="fr-FR" sz="2000" b="1" cap="all" dirty="0" smtClean="0">
                <a:solidFill>
                  <a:srgbClr val="FF0000"/>
                </a:solidFill>
              </a:rPr>
              <a:t>UN REGIME DE DISPENSE</a:t>
            </a:r>
            <a:r>
              <a:rPr lang="fr-FR" b="1" cap="all" dirty="0" smtClean="0">
                <a:solidFill>
                  <a:srgbClr val="FF0000"/>
                </a:solidFill>
              </a:rPr>
              <a:t>:</a:t>
            </a:r>
          </a:p>
          <a:p>
            <a:pPr algn="just">
              <a:buFont typeface="Wingdings" pitchFamily="2" charset="2"/>
              <a:buChar char="q"/>
            </a:pPr>
            <a:r>
              <a:rPr lang="fr-FR" sz="2400" dirty="0" smtClean="0"/>
              <a:t>ont pour seul objet la tenue d’un registre qui, en vertu de dispositions législatives ou réglementaires, est destiné exclusivement à l’information du public et est ouvert à la consultation de celui-ci ou de toute personne justifiant d’un intérêt légitime ;</a:t>
            </a:r>
          </a:p>
          <a:p>
            <a:pPr algn="just">
              <a:buFont typeface="Wingdings" pitchFamily="2" charset="2"/>
              <a:buChar char="q"/>
            </a:pPr>
            <a:r>
              <a:rPr lang="fr-FR" sz="2400" dirty="0" smtClean="0"/>
              <a:t>portent sur des copies temporaires faites dans le cadre des activités techniques de transmission et de fourniture d'accès à un réseau numérique, en vue du stockage automatique, intermédiaire et transitoire des données et à seule fin de permettre à d'autres destinataires du service le meilleur accès possible aux informations transmises ;</a:t>
            </a:r>
          </a:p>
          <a:p>
            <a:pPr algn="just">
              <a:buFont typeface="Wingdings" pitchFamily="2" charset="2"/>
              <a:buChar char="q"/>
            </a:pPr>
            <a:r>
              <a:rPr lang="fr-FR" sz="2400" dirty="0" smtClean="0"/>
              <a:t>ont pour seul objet la tenue d’un registre qui est destiné exclusivement à l’information du public et est ouvert à la consultation de celui-ci ;</a:t>
            </a:r>
          </a:p>
          <a:p>
            <a:pPr algn="just">
              <a:buFont typeface="Wingdings" pitchFamily="2" charset="2"/>
              <a:buChar char="q"/>
            </a:pPr>
            <a:r>
              <a:rPr lang="fr-FR" sz="2400" dirty="0" smtClean="0"/>
              <a:t>sont mis en œuvre par une association ou tout organisme à but non lucratif et à caractère religieux, philosophique, politique ou syndical dès lors que ces données correspondent à l’objet de cette association ou de cet organisme,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678751"/>
          </a:xfrm>
          <a:prstGeom prst="rect">
            <a:avLst/>
          </a:prstGeom>
        </p:spPr>
        <p:txBody>
          <a:bodyPr wrap="square">
            <a:spAutoFit/>
          </a:bodyPr>
          <a:lstStyle/>
          <a:p>
            <a:pPr marL="809625" indent="-269875" algn="ctr">
              <a:buFont typeface="Wingdings" pitchFamily="2" charset="2"/>
              <a:buChar char="Ø"/>
            </a:pPr>
            <a:r>
              <a:rPr lang="fr-FR" cap="all" dirty="0" smtClean="0">
                <a:solidFill>
                  <a:srgbClr val="FF0000"/>
                </a:solidFill>
              </a:rPr>
              <a:t>	</a:t>
            </a:r>
            <a:r>
              <a:rPr lang="fr-FR" sz="2000" b="1" cap="all" dirty="0" smtClean="0">
                <a:solidFill>
                  <a:srgbClr val="FF0000"/>
                </a:solidFill>
              </a:rPr>
              <a:t>UN REGIME D’AUTORISATION</a:t>
            </a:r>
            <a:endParaRPr lang="fr-FR" b="1" cap="all" dirty="0" smtClean="0">
              <a:solidFill>
                <a:srgbClr val="FF0000"/>
              </a:solidFill>
            </a:endParaRPr>
          </a:p>
          <a:p>
            <a:r>
              <a:rPr lang="fr-FR" sz="2400" dirty="0" smtClean="0"/>
              <a:t>Le régime de demande d’autorisation est prévu par l’article 20 de la loi n° 2008–12 du 25 janvier 2008 sur la protection des données personnelles.</a:t>
            </a:r>
            <a:br>
              <a:rPr lang="fr-FR" sz="2400" dirty="0" smtClean="0"/>
            </a:br>
            <a:r>
              <a:rPr lang="fr-FR" sz="2400" dirty="0" smtClean="0"/>
              <a:t>En application de cette disposition, sont mis en œuvre après autorisation de la Commission des Données Personnelles :</a:t>
            </a:r>
          </a:p>
          <a:p>
            <a:pPr marL="187325" indent="-187325">
              <a:buFont typeface="+mj-lt"/>
              <a:buAutoNum type="arabicPeriod"/>
            </a:pPr>
            <a:r>
              <a:rPr lang="fr-FR" sz="2400" dirty="0" smtClean="0">
                <a:solidFill>
                  <a:schemeClr val="accent1">
                    <a:lumMod val="60000"/>
                    <a:lumOff val="40000"/>
                  </a:schemeClr>
                </a:solidFill>
                <a:cs typeface="Times New Roman" pitchFamily="18" charset="0"/>
              </a:rPr>
              <a:t>les traitements des données à caractère personnel portant sur des données génétiques et sur la recherche dans le domaine de la santé;</a:t>
            </a:r>
          </a:p>
          <a:p>
            <a:pPr marL="187325" indent="-187325">
              <a:buFont typeface="+mj-lt"/>
              <a:buAutoNum type="arabicPeriod"/>
            </a:pPr>
            <a:r>
              <a:rPr lang="fr-FR" sz="2400" dirty="0" smtClean="0">
                <a:solidFill>
                  <a:srgbClr val="00B050"/>
                </a:solidFill>
                <a:cs typeface="Times New Roman" pitchFamily="18" charset="0"/>
              </a:rPr>
              <a:t>les traitements des données à caractère personnel portant sur des données relatives aux infractions, condamnations ou mesures de sûreté</a:t>
            </a:r>
            <a:r>
              <a:rPr lang="fr-FR" sz="2400" dirty="0" smtClean="0">
                <a:cs typeface="Times New Roman" pitchFamily="18" charset="0"/>
              </a:rPr>
              <a:t>;</a:t>
            </a:r>
          </a:p>
          <a:p>
            <a:pPr marL="187325" indent="-187325">
              <a:buFont typeface="+mj-lt"/>
              <a:buAutoNum type="arabicPeriod"/>
            </a:pPr>
            <a:r>
              <a:rPr lang="fr-FR" sz="2400" dirty="0" smtClean="0">
                <a:solidFill>
                  <a:srgbClr val="002060"/>
                </a:solidFill>
                <a:cs typeface="Times New Roman" pitchFamily="18" charset="0"/>
              </a:rPr>
              <a:t>les traitements des données à caractère personnel ayant pour objet une interconnexion de fichiers;</a:t>
            </a:r>
          </a:p>
          <a:p>
            <a:pPr marL="187325" indent="-187325">
              <a:buFont typeface="+mj-lt"/>
              <a:buAutoNum type="arabicPeriod"/>
            </a:pPr>
            <a:r>
              <a:rPr lang="fr-FR" sz="2400" dirty="0" smtClean="0">
                <a:solidFill>
                  <a:srgbClr val="0070C0"/>
                </a:solidFill>
                <a:cs typeface="Times New Roman" pitchFamily="18" charset="0"/>
              </a:rPr>
              <a:t>les traitements portant sur un numéro national d’identification ou tout autre identifiant de portée générale ;</a:t>
            </a:r>
          </a:p>
          <a:p>
            <a:pPr marL="187325" indent="-187325">
              <a:buFont typeface="+mj-lt"/>
              <a:buAutoNum type="arabicPeriod"/>
            </a:pPr>
            <a:r>
              <a:rPr lang="fr-FR" sz="2400" dirty="0" smtClean="0">
                <a:solidFill>
                  <a:srgbClr val="A51B7E"/>
                </a:solidFill>
                <a:cs typeface="Times New Roman" pitchFamily="18" charset="0"/>
              </a:rPr>
              <a:t>les traitements des données à caractère personnel comportant des données biométriques </a:t>
            </a:r>
            <a:r>
              <a:rPr lang="fr-FR" sz="2400" dirty="0" smtClean="0">
                <a:cs typeface="Times New Roman" pitchFamily="18" charset="0"/>
              </a:rPr>
              <a:t>;</a:t>
            </a:r>
          </a:p>
          <a:p>
            <a:pPr marL="187325" indent="-187325">
              <a:buFont typeface="+mj-lt"/>
              <a:buAutoNum type="arabicPeriod"/>
            </a:pPr>
            <a:r>
              <a:rPr lang="fr-FR" sz="2400" dirty="0" smtClean="0">
                <a:solidFill>
                  <a:srgbClr val="00B050"/>
                </a:solidFill>
                <a:cs typeface="Times New Roman" pitchFamily="18" charset="0"/>
              </a:rPr>
              <a:t>les traitements des données à caractère personnel ayant un motif d’intérêt public notamment à des fins historiques, statistiques ou scientifiques</a:t>
            </a:r>
            <a:r>
              <a:rPr lang="fr-FR" sz="2000" dirty="0" smtClean="0">
                <a:solidFill>
                  <a:srgbClr val="00B050"/>
                </a:solidFill>
                <a:cs typeface="Times New Roman" pitchFamily="18" charset="0"/>
              </a:rPr>
              <a:t>.</a:t>
            </a:r>
            <a:endParaRPr lang="fr-FR" sz="2000" dirty="0">
              <a:solidFill>
                <a:srgbClr val="00B050"/>
              </a:solidFill>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6578"/>
            <a:ext cx="9143999" cy="646331"/>
          </a:xfrm>
          <a:prstGeom prst="rect">
            <a:avLst/>
          </a:prstGeom>
        </p:spPr>
        <p:txBody>
          <a:bodyPr wrap="square">
            <a:spAutoFit/>
          </a:bodyPr>
          <a:lstStyle/>
          <a:p>
            <a:pPr marL="342900" indent="-342900" algn="ctr">
              <a:buFont typeface="Wingdings" pitchFamily="2" charset="2"/>
              <a:buChar char="Ø"/>
            </a:pPr>
            <a:r>
              <a:rPr lang="fr-FR" b="1" cap="all" dirty="0" smtClean="0">
                <a:solidFill>
                  <a:srgbClr val="FF0000"/>
                </a:solidFill>
              </a:rPr>
              <a:t>UN REGIME DE DEMANDE D’AVIS:</a:t>
            </a:r>
          </a:p>
          <a:p>
            <a:endParaRPr lang="fr-FR" dirty="0"/>
          </a:p>
        </p:txBody>
      </p:sp>
      <p:sp>
        <p:nvSpPr>
          <p:cNvPr id="3" name="Rectangle 2"/>
          <p:cNvSpPr/>
          <p:nvPr/>
        </p:nvSpPr>
        <p:spPr>
          <a:xfrm>
            <a:off x="239842" y="517803"/>
            <a:ext cx="8694295" cy="6340197"/>
          </a:xfrm>
          <a:prstGeom prst="rect">
            <a:avLst/>
          </a:prstGeom>
        </p:spPr>
        <p:txBody>
          <a:bodyPr wrap="square">
            <a:spAutoFit/>
          </a:bodyPr>
          <a:lstStyle/>
          <a:p>
            <a:r>
              <a:rPr lang="fr-FR" sz="2000" dirty="0" smtClean="0"/>
              <a:t>Il s’agit des traitements opérés pour le compte de l’</a:t>
            </a:r>
            <a:r>
              <a:rPr lang="fr-FR" sz="2000" dirty="0" err="1" smtClean="0"/>
              <a:t>Etat</a:t>
            </a:r>
            <a:r>
              <a:rPr lang="fr-FR" sz="2000" dirty="0" smtClean="0"/>
              <a:t>, d’un établissement public ou d’une collectivité locale ou d’une personne morale de droit privé gérant un service public qui sont décidés par acte réglementaire pris après avis motivé de la Commission des Données Personnelles.</a:t>
            </a:r>
            <a:br>
              <a:rPr lang="fr-FR" sz="2000" dirty="0" smtClean="0"/>
            </a:br>
            <a:r>
              <a:rPr lang="fr-FR" sz="2000" dirty="0" smtClean="0"/>
              <a:t>Ces traitements portent sur :</a:t>
            </a:r>
          </a:p>
          <a:p>
            <a:pPr marL="457200" indent="-457200">
              <a:buFont typeface="+mj-lt"/>
              <a:buAutoNum type="arabicPeriod"/>
            </a:pPr>
            <a:r>
              <a:rPr lang="fr-FR" sz="2400" dirty="0" smtClean="0"/>
              <a:t>la sûreté de l’</a:t>
            </a:r>
            <a:r>
              <a:rPr lang="fr-FR" sz="2400" dirty="0" err="1" smtClean="0"/>
              <a:t>Etat</a:t>
            </a:r>
            <a:r>
              <a:rPr lang="fr-FR" sz="2400" dirty="0" smtClean="0"/>
              <a:t>, la défense ou la sécurité publique ;</a:t>
            </a:r>
          </a:p>
          <a:p>
            <a:pPr marL="457200" indent="-457200">
              <a:buFont typeface="+mj-lt"/>
              <a:buAutoNum type="arabicPeriod"/>
            </a:pPr>
            <a:r>
              <a:rPr lang="fr-FR" sz="2400" dirty="0" smtClean="0">
                <a:solidFill>
                  <a:schemeClr val="accent1">
                    <a:lumMod val="60000"/>
                    <a:lumOff val="40000"/>
                  </a:schemeClr>
                </a:solidFill>
              </a:rPr>
              <a:t>la prévention, la recherche, la constatation ou la poursuite des infractions pénales ou l’exécution des condamnations pénales ou des mesures de sûreté ;</a:t>
            </a:r>
          </a:p>
          <a:p>
            <a:pPr marL="457200" indent="-457200">
              <a:buFont typeface="+mj-lt"/>
              <a:buAutoNum type="arabicPeriod"/>
            </a:pPr>
            <a:r>
              <a:rPr lang="fr-FR" sz="2400" dirty="0" smtClean="0">
                <a:solidFill>
                  <a:srgbClr val="0070C0"/>
                </a:solidFill>
              </a:rPr>
              <a:t>le recensement de la population ;</a:t>
            </a:r>
          </a:p>
          <a:p>
            <a:pPr marL="457200" indent="-457200">
              <a:buFont typeface="+mj-lt"/>
              <a:buAutoNum type="arabicPeriod"/>
            </a:pPr>
            <a:r>
              <a:rPr lang="fr-FR" sz="2400" dirty="0" smtClean="0">
                <a:solidFill>
                  <a:srgbClr val="38B134"/>
                </a:solidFill>
              </a:rPr>
              <a:t>les données à caractère personnel faisant apparaître, directement ou indirectement, les origines raciales, ethniques ou régionales, la filiation, les opinions politiques, philosophiques ou religieuses ou l’appartenance syndicale des personnes, ou qui sont relatives à la santé ou à la vie sexuelle ;</a:t>
            </a:r>
          </a:p>
          <a:p>
            <a:pPr marL="457200" indent="-457200">
              <a:buFont typeface="+mj-lt"/>
              <a:buAutoNum type="arabicPeriod"/>
            </a:pPr>
            <a:r>
              <a:rPr lang="fr-FR" sz="2400" dirty="0" smtClean="0"/>
              <a:t>le traitement de salaires, pensions, impôts, taxes et autres liquidations.</a:t>
            </a:r>
          </a:p>
          <a:p>
            <a:r>
              <a:rPr lang="fr-FR" i="1" dirty="0" smtClean="0">
                <a:solidFill>
                  <a:srgbClr val="FF0000"/>
                </a:solidFill>
              </a:rPr>
              <a:t>Les pénalités : Article 431-24 Code pénal</a:t>
            </a:r>
            <a:endParaRPr lang="fr-FR"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12" y="359764"/>
            <a:ext cx="9155112" cy="6370975"/>
          </a:xfrm>
          <a:prstGeom prst="rect">
            <a:avLst/>
          </a:prstGeom>
        </p:spPr>
        <p:txBody>
          <a:bodyPr wrap="square">
            <a:spAutoFit/>
          </a:bodyPr>
          <a:lstStyle/>
          <a:p>
            <a:pPr algn="ctr">
              <a:buFont typeface="Wingdings" pitchFamily="2" charset="2"/>
              <a:buChar char="Ø"/>
            </a:pPr>
            <a:r>
              <a:rPr lang="fr-FR" sz="2400" b="1" cap="all" dirty="0" smtClean="0">
                <a:solidFill>
                  <a:srgbClr val="FF0000"/>
                </a:solidFill>
              </a:rPr>
              <a:t>UN REGIME DE DECLARATION</a:t>
            </a:r>
          </a:p>
          <a:p>
            <a:r>
              <a:rPr lang="fr-FR" sz="3200" dirty="0" smtClean="0"/>
              <a:t> Il concerne tous les traitements à l’exception de ceux prévus par les articles 20(régime d’autorisation) et 21(régime de demande d’avis) de la loi susmentionnée.</a:t>
            </a:r>
          </a:p>
          <a:p>
            <a:endParaRPr lang="fr-FR" sz="3200" dirty="0" smtClean="0"/>
          </a:p>
          <a:p>
            <a:endParaRPr lang="fr-FR" sz="3200" dirty="0" smtClean="0"/>
          </a:p>
          <a:p>
            <a:endParaRPr lang="fr-FR" sz="3200" dirty="0" smtClean="0"/>
          </a:p>
          <a:p>
            <a:endParaRPr lang="fr-FR" sz="3200" dirty="0" smtClean="0"/>
          </a:p>
          <a:p>
            <a:endParaRPr lang="fr-FR" sz="3200" i="1" dirty="0" smtClean="0">
              <a:solidFill>
                <a:srgbClr val="FF0000"/>
              </a:solidFill>
            </a:endParaRPr>
          </a:p>
          <a:p>
            <a:endParaRPr lang="fr-FR" sz="3200" i="1" dirty="0" smtClean="0">
              <a:solidFill>
                <a:srgbClr val="FF0000"/>
              </a:solidFill>
            </a:endParaRPr>
          </a:p>
          <a:p>
            <a:endParaRPr lang="fr-FR" sz="3200" i="1" dirty="0" smtClean="0">
              <a:solidFill>
                <a:srgbClr val="FF0000"/>
              </a:solidFill>
            </a:endParaRPr>
          </a:p>
          <a:p>
            <a:r>
              <a:rPr lang="fr-FR" sz="3200" i="1" dirty="0" smtClean="0">
                <a:solidFill>
                  <a:srgbClr val="FF0000"/>
                </a:solidFill>
              </a:rPr>
              <a:t>Les pénalités : Article 431-17 Code pénal / Article 431-19 Code pénal</a:t>
            </a:r>
            <a:endParaRPr lang="fr-FR" sz="3200" dirty="0">
              <a:solidFill>
                <a:srgbClr val="FF0000"/>
              </a:solidFill>
            </a:endParaRPr>
          </a:p>
        </p:txBody>
      </p:sp>
      <p:graphicFrame>
        <p:nvGraphicFramePr>
          <p:cNvPr id="3" name="Tableau 2"/>
          <p:cNvGraphicFramePr>
            <a:graphicFrameLocks noGrp="1"/>
          </p:cNvGraphicFramePr>
          <p:nvPr/>
        </p:nvGraphicFramePr>
        <p:xfrm>
          <a:off x="209863" y="2743200"/>
          <a:ext cx="8589363" cy="2734056"/>
        </p:xfrm>
        <a:graphic>
          <a:graphicData uri="http://schemas.openxmlformats.org/drawingml/2006/table">
            <a:tbl>
              <a:tblPr/>
              <a:tblGrid>
                <a:gridCol w="1514567"/>
                <a:gridCol w="1278781"/>
                <a:gridCol w="1279383"/>
                <a:gridCol w="1534415"/>
                <a:gridCol w="1362388"/>
                <a:gridCol w="1619829"/>
              </a:tblGrid>
              <a:tr h="489187">
                <a:tc>
                  <a:txBody>
                    <a:bodyPr/>
                    <a:lstStyle/>
                    <a:p>
                      <a:pPr>
                        <a:lnSpc>
                          <a:spcPct val="115000"/>
                        </a:lnSpc>
                        <a:spcAft>
                          <a:spcPts val="0"/>
                        </a:spcAft>
                      </a:pPr>
                      <a:r>
                        <a:rPr lang="fr-FR" sz="1400" b="1" dirty="0">
                          <a:latin typeface="Palatino Linotype"/>
                          <a:ea typeface="Calibri"/>
                          <a:cs typeface="Futura-BookOblique"/>
                        </a:rPr>
                        <a:t>Numéro NS</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400" dirty="0">
                        <a:latin typeface="Palatino Linotype"/>
                        <a:ea typeface="Calibri"/>
                        <a:cs typeface="Futura-BookOblique"/>
                      </a:endParaRPr>
                    </a:p>
                    <a:p>
                      <a:pPr>
                        <a:lnSpc>
                          <a:spcPct val="115000"/>
                        </a:lnSpc>
                        <a:spcAft>
                          <a:spcPts val="0"/>
                        </a:spcAft>
                      </a:pPr>
                      <a:r>
                        <a:rPr lang="fr-FR" sz="1200" dirty="0">
                          <a:latin typeface="Palatino Linotype"/>
                          <a:ea typeface="Calibri"/>
                          <a:cs typeface="Futura-BookOblique"/>
                        </a:rPr>
                        <a:t>NS N°2019-01/CDP</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400">
                        <a:latin typeface="Palatino Linotype"/>
                        <a:ea typeface="Calibri"/>
                        <a:cs typeface="Futura-BookOblique"/>
                      </a:endParaRPr>
                    </a:p>
                    <a:p>
                      <a:pPr>
                        <a:lnSpc>
                          <a:spcPct val="115000"/>
                        </a:lnSpc>
                        <a:spcAft>
                          <a:spcPts val="0"/>
                        </a:spcAft>
                      </a:pPr>
                      <a:r>
                        <a:rPr lang="fr-FR" sz="1400">
                          <a:latin typeface="Palatino Linotype"/>
                          <a:ea typeface="Calibri"/>
                          <a:cs typeface="Futura-BookOblique"/>
                        </a:rPr>
                        <a:t>NS N°2019-002/CDP</a:t>
                      </a:r>
                      <a:endParaRPr lang="fr-FR" sz="160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400" dirty="0">
                        <a:latin typeface="Palatino Linotype"/>
                        <a:ea typeface="Calibri"/>
                        <a:cs typeface="Futura-BookOblique"/>
                      </a:endParaRPr>
                    </a:p>
                    <a:p>
                      <a:pPr>
                        <a:lnSpc>
                          <a:spcPct val="115000"/>
                        </a:lnSpc>
                        <a:spcAft>
                          <a:spcPts val="0"/>
                        </a:spcAft>
                      </a:pPr>
                      <a:r>
                        <a:rPr lang="fr-FR" sz="1400" dirty="0">
                          <a:latin typeface="Palatino Linotype"/>
                          <a:ea typeface="Calibri"/>
                          <a:cs typeface="Futura-BookOblique"/>
                        </a:rPr>
                        <a:t>NS N°2019-003/CDP</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a:latin typeface="Palatino Linotype"/>
                          <a:ea typeface="Calibri"/>
                          <a:cs typeface="Futura-BookOblique"/>
                        </a:rPr>
                        <a:t>NS </a:t>
                      </a:r>
                      <a:endParaRPr lang="fr-FR" sz="1600">
                        <a:latin typeface="Calibri"/>
                        <a:ea typeface="Times New Roman"/>
                        <a:cs typeface="Times New Roman"/>
                      </a:endParaRPr>
                    </a:p>
                    <a:p>
                      <a:pPr>
                        <a:lnSpc>
                          <a:spcPct val="115000"/>
                        </a:lnSpc>
                        <a:spcAft>
                          <a:spcPts val="0"/>
                        </a:spcAft>
                      </a:pPr>
                      <a:r>
                        <a:rPr lang="fr-FR" sz="1400">
                          <a:latin typeface="Palatino Linotype"/>
                          <a:ea typeface="Calibri"/>
                          <a:cs typeface="Futura-BookOblique"/>
                        </a:rPr>
                        <a:t>N°2019-004/CDP</a:t>
                      </a:r>
                      <a:endParaRPr lang="fr-FR" sz="160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400">
                        <a:latin typeface="Palatino Linotype"/>
                        <a:ea typeface="Calibri"/>
                        <a:cs typeface="Futura-BookOblique"/>
                      </a:endParaRPr>
                    </a:p>
                    <a:p>
                      <a:pPr>
                        <a:lnSpc>
                          <a:spcPct val="115000"/>
                        </a:lnSpc>
                        <a:spcAft>
                          <a:spcPts val="0"/>
                        </a:spcAft>
                      </a:pPr>
                      <a:r>
                        <a:rPr lang="fr-FR" sz="1400">
                          <a:latin typeface="Palatino Linotype"/>
                          <a:ea typeface="Calibri"/>
                          <a:cs typeface="Futura-BookOblique"/>
                        </a:rPr>
                        <a:t>NS N°2019-005/CDP</a:t>
                      </a:r>
                      <a:endParaRPr lang="fr-FR" sz="160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77325">
                <a:tc>
                  <a:txBody>
                    <a:bodyPr/>
                    <a:lstStyle/>
                    <a:p>
                      <a:pPr>
                        <a:lnSpc>
                          <a:spcPct val="115000"/>
                        </a:lnSpc>
                        <a:spcAft>
                          <a:spcPts val="0"/>
                        </a:spcAft>
                      </a:pPr>
                      <a:r>
                        <a:rPr lang="fr-FR" sz="1400" b="1" dirty="0">
                          <a:latin typeface="Palatino Linotype"/>
                          <a:ea typeface="Calibri"/>
                          <a:cs typeface="Futura-BookOblique"/>
                        </a:rPr>
                        <a:t>Objet NS</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fr-FR" sz="1600" dirty="0">
                        <a:latin typeface="Calibri"/>
                        <a:ea typeface="Times New Roman"/>
                        <a:cs typeface="Times New Roman"/>
                      </a:endParaRPr>
                    </a:p>
                    <a:p>
                      <a:pPr algn="ctr">
                        <a:lnSpc>
                          <a:spcPct val="115000"/>
                        </a:lnSpc>
                        <a:spcAft>
                          <a:spcPts val="0"/>
                        </a:spcAft>
                      </a:pPr>
                      <a:r>
                        <a:rPr lang="fr-FR" sz="1200" b="1" i="1" dirty="0">
                          <a:latin typeface="Palatino Linotype"/>
                          <a:ea typeface="Calibri"/>
                          <a:cs typeface="Futura-BookOblique"/>
                        </a:rPr>
                        <a:t>GESTION DU PERSONNEL</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fr-FR" sz="1600" dirty="0">
                        <a:latin typeface="Calibri"/>
                        <a:ea typeface="Times New Roman"/>
                        <a:cs typeface="Times New Roman"/>
                      </a:endParaRPr>
                    </a:p>
                    <a:p>
                      <a:pPr algn="ctr">
                        <a:lnSpc>
                          <a:spcPct val="115000"/>
                        </a:lnSpc>
                        <a:spcAft>
                          <a:spcPts val="0"/>
                        </a:spcAft>
                      </a:pPr>
                      <a:r>
                        <a:rPr lang="fr-FR" sz="1400" b="1" i="1" dirty="0">
                          <a:latin typeface="Palatino Linotype"/>
                          <a:ea typeface="Calibri"/>
                          <a:cs typeface="Futura-BookOblique"/>
                        </a:rPr>
                        <a:t>REGISTRE DES ENTREES ET SORTIES</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fr-FR" sz="1600" dirty="0">
                        <a:latin typeface="Calibri"/>
                        <a:ea typeface="Times New Roman"/>
                        <a:cs typeface="Times New Roman"/>
                      </a:endParaRPr>
                    </a:p>
                    <a:p>
                      <a:pPr algn="ctr">
                        <a:lnSpc>
                          <a:spcPct val="115000"/>
                        </a:lnSpc>
                        <a:spcAft>
                          <a:spcPts val="0"/>
                        </a:spcAft>
                      </a:pPr>
                      <a:r>
                        <a:rPr lang="fr-FR" sz="1400" b="1" i="1" dirty="0">
                          <a:latin typeface="Palatino Linotype"/>
                          <a:ea typeface="Calibri"/>
                          <a:cs typeface="Futura-BookOblique"/>
                        </a:rPr>
                        <a:t>SYSTEMES DE VIDEOSURVEILLANCE INSTALLES A DOMICILE POUR LES PARTICULIERS</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fr-FR" sz="1600" dirty="0">
                        <a:latin typeface="Calibri"/>
                        <a:ea typeface="Times New Roman"/>
                        <a:cs typeface="Times New Roman"/>
                      </a:endParaRPr>
                    </a:p>
                    <a:p>
                      <a:pPr algn="ctr">
                        <a:lnSpc>
                          <a:spcPct val="115000"/>
                        </a:lnSpc>
                        <a:spcAft>
                          <a:spcPts val="0"/>
                        </a:spcAft>
                      </a:pPr>
                      <a:r>
                        <a:rPr lang="fr-FR" sz="1400" b="1" i="1" dirty="0">
                          <a:latin typeface="Palatino Linotype"/>
                          <a:ea typeface="Calibri"/>
                          <a:cs typeface="Futura-BookOblique"/>
                        </a:rPr>
                        <a:t>SYSTEME DE CONTROLE D’ACCES ET DE POINTAGE PAR BADGE </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400" dirty="0">
                        <a:latin typeface="Palatino Linotype"/>
                        <a:ea typeface="Calibri"/>
                        <a:cs typeface="Futura-BookOblique"/>
                      </a:endParaRPr>
                    </a:p>
                    <a:p>
                      <a:pPr algn="ctr">
                        <a:lnSpc>
                          <a:spcPct val="115000"/>
                        </a:lnSpc>
                        <a:spcAft>
                          <a:spcPts val="0"/>
                        </a:spcAft>
                      </a:pPr>
                      <a:r>
                        <a:rPr lang="fr-FR" sz="1400" b="1" i="1" dirty="0">
                          <a:latin typeface="Palatino Linotype"/>
                          <a:ea typeface="Calibri"/>
                          <a:cs typeface="Futura-BookOblique"/>
                        </a:rPr>
                        <a:t>GESTION DES FOURNISSEURS ET PRESTATAIRES</a:t>
                      </a:r>
                      <a:endParaRPr lang="fr-FR" sz="1600" dirty="0">
                        <a:latin typeface="Calibri"/>
                        <a:ea typeface="Times New Roman"/>
                        <a:cs typeface="Times New Roman"/>
                      </a:endParaRPr>
                    </a:p>
                  </a:txBody>
                  <a:tcPr marL="46104" marR="46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52" name="AutoShape 4"/>
          <p:cNvSpPr>
            <a:spLocks noChangeArrowheads="1"/>
          </p:cNvSpPr>
          <p:nvPr/>
        </p:nvSpPr>
        <p:spPr bwMode="auto">
          <a:xfrm>
            <a:off x="-30163" y="23813"/>
            <a:ext cx="96838" cy="90487"/>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051" name="AutoShape 3"/>
          <p:cNvSpPr>
            <a:spLocks noChangeArrowheads="1"/>
          </p:cNvSpPr>
          <p:nvPr/>
        </p:nvSpPr>
        <p:spPr bwMode="auto">
          <a:xfrm>
            <a:off x="-11113" y="23813"/>
            <a:ext cx="96838" cy="90487"/>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050" name="AutoShape 2"/>
          <p:cNvSpPr>
            <a:spLocks noChangeArrowheads="1"/>
          </p:cNvSpPr>
          <p:nvPr/>
        </p:nvSpPr>
        <p:spPr bwMode="auto">
          <a:xfrm>
            <a:off x="-20638" y="23813"/>
            <a:ext cx="96838" cy="90487"/>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049" name="AutoShape 1"/>
          <p:cNvSpPr>
            <a:spLocks noChangeArrowheads="1"/>
          </p:cNvSpPr>
          <p:nvPr/>
        </p:nvSpPr>
        <p:spPr bwMode="auto">
          <a:xfrm>
            <a:off x="-33338" y="23813"/>
            <a:ext cx="96838" cy="90487"/>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rotWithShape="1">
          <a:blip r:embed="rId2"/>
          <a:srcRect l="11734" r="9095"/>
          <a:stretch/>
        </p:blipFill>
        <p:spPr>
          <a:xfrm>
            <a:off x="0" y="0"/>
            <a:ext cx="9144000" cy="6858000"/>
          </a:xfrm>
        </p:spPr>
      </p:pic>
    </p:spTree>
    <p:extLst>
      <p:ext uri="{BB962C8B-B14F-4D97-AF65-F5344CB8AC3E}">
        <p14:creationId xmlns="" xmlns:p14="http://schemas.microsoft.com/office/powerpoint/2010/main" val="28864992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Encrier">
  <a:themeElements>
    <a:clrScheme name="Inkwell">
      <a:dk1>
        <a:sysClr val="windowText" lastClr="000000"/>
      </a:dk1>
      <a:lt1>
        <a:sysClr val="window" lastClr="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Inkwell">
      <a:majorFont>
        <a:latin typeface="Goudy Old Style"/>
        <a:ea typeface=""/>
        <a:cs typeface=""/>
        <a:font script="Jpan" typeface="ＭＳ 明朝"/>
      </a:majorFont>
      <a:minorFont>
        <a:latin typeface="Goudy Old Style"/>
        <a:ea typeface=""/>
        <a:cs typeface=""/>
        <a:font script="Jpan" typeface="ＭＳ 明朝"/>
      </a:minorFont>
    </a:fontScheme>
    <a:fmtScheme name="Inkwell">
      <a:fillStyleLst>
        <a:solidFill>
          <a:schemeClr val="phClr"/>
        </a:solidFill>
        <a:blipFill rotWithShape="1">
          <a:blip xmlns:r="http://schemas.openxmlformats.org/officeDocument/2006/relationships" r:embed="rId1">
            <a:duotone>
              <a:schemeClr val="phClr">
                <a:shade val="30000"/>
              </a:schemeClr>
              <a:schemeClr val="phClr">
                <a:alpha val="10000"/>
                <a:satMod val="120000"/>
              </a:schemeClr>
            </a:duotone>
          </a:blip>
          <a:stretch/>
        </a:blipFill>
        <a:blipFill rotWithShape="1">
          <a:blip xmlns:r="http://schemas.openxmlformats.org/officeDocument/2006/relationships" r:embed="rId2">
            <a:duotone>
              <a:schemeClr val="phClr">
                <a:shade val="30000"/>
                <a:satMod val="150000"/>
              </a:schemeClr>
              <a:schemeClr val="phClr">
                <a:alpha val="10000"/>
                <a:satMod val="120000"/>
              </a:schemeClr>
            </a:duotone>
          </a:blip>
          <a:stretch/>
        </a:blipFill>
      </a:fillStyleLst>
      <a:lnStyleLst>
        <a:ln w="12700" cap="flat" cmpd="sng" algn="ctr">
          <a:solidFill>
            <a:schemeClr val="phClr">
              <a:shade val="95000"/>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38100" dir="5400000" rotWithShape="0">
              <a:srgbClr val="000000">
                <a:alpha val="75000"/>
              </a:srgbClr>
            </a:outerShdw>
          </a:effectLst>
        </a:effectStyle>
        <a:effectStyle>
          <a:effectLst>
            <a:outerShdw blurRad="38100" dist="25400" dir="5400000" rotWithShape="0">
              <a:srgbClr val="000000">
                <a:alpha val="75000"/>
              </a:srgbClr>
            </a:outerShdw>
            <a:softEdge rad="25400"/>
          </a:effectLst>
        </a:effectStyle>
      </a:effectStyleLst>
      <a:bgFillStyleLst>
        <a:blipFill rotWithShape="1">
          <a:blip xmlns:r="http://schemas.openxmlformats.org/officeDocument/2006/relationships" r:embed="rId3"/>
          <a:stretch/>
        </a:blipFill>
        <a:blipFill rotWithShape="1">
          <a:blip xmlns:r="http://schemas.openxmlformats.org/officeDocument/2006/relationships" r:embed="rId4"/>
          <a:stretch/>
        </a:blipFill>
        <a:blipFill rotWithShape="1">
          <a:blip xmlns:r="http://schemas.openxmlformats.org/officeDocument/2006/relationships" r:embed="rId5"/>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Encrier.thmx</Template>
  <TotalTime>10642134</TotalTime>
  <Words>1950</Words>
  <Application>Microsoft Macintosh PowerPoint</Application>
  <PresentationFormat>Affichage à l'écran (4:3)</PresentationFormat>
  <Paragraphs>245</Paragraphs>
  <Slides>36</Slides>
  <Notes>0</Notes>
  <HiddenSlides>0</HiddenSlides>
  <MMClips>0</MMClips>
  <ScaleCrop>false</ScaleCrop>
  <HeadingPairs>
    <vt:vector size="4" baseType="variant">
      <vt:variant>
        <vt:lpstr>Thème</vt:lpstr>
      </vt:variant>
      <vt:variant>
        <vt:i4>1</vt:i4>
      </vt:variant>
      <vt:variant>
        <vt:lpstr>Titres des diapositives</vt:lpstr>
      </vt:variant>
      <vt:variant>
        <vt:i4>36</vt:i4>
      </vt:variant>
    </vt:vector>
  </HeadingPairs>
  <TitlesOfParts>
    <vt:vector size="37" baseType="lpstr">
      <vt:lpstr>Encrier</vt:lpstr>
      <vt:lpstr>COURS INTRODUCTION AU DROIT DES Tics</vt:lpstr>
      <vt:lpstr>PLAN DU COURS</vt:lpstr>
      <vt:lpstr>INTRODUCTION</vt:lpstr>
      <vt:lpstr>Diapositive 4</vt:lpstr>
      <vt:lpstr>Diapositive 5</vt:lpstr>
      <vt:lpstr> Chapitre I : La société de l’information </vt:lpstr>
      <vt:lpstr>Diapositive 7</vt:lpstr>
      <vt:lpstr>Chapitre II-  La cybercriminalité </vt:lpstr>
      <vt:lpstr>Diapositive 9</vt:lpstr>
      <vt:lpstr>Diapositive 10</vt:lpstr>
      <vt:lpstr>La modernisation des instruments de répression </vt:lpstr>
      <vt:lpstr> A- L’adoption d’incriminations nouvelles spécifiques aux tics  </vt:lpstr>
      <vt:lpstr>Diapositive 13</vt:lpstr>
      <vt:lpstr>Diapositive 14</vt:lpstr>
      <vt:lpstr>Diapositive 15</vt:lpstr>
      <vt:lpstr>Diapositive 16</vt:lpstr>
      <vt:lpstr>B- L’adaptation des incriminations classiques aux tics </vt:lpstr>
      <vt:lpstr>Diapositive 18</vt:lpstr>
      <vt:lpstr>Diapositive 19</vt:lpstr>
      <vt:lpstr>A- Les TIC : un moyen de commission d’infractions de droit commun </vt:lpstr>
      <vt:lpstr>Diapositive 21</vt:lpstr>
      <vt:lpstr>Diapositive 22</vt:lpstr>
      <vt:lpstr>Diapositive 23</vt:lpstr>
      <vt:lpstr>Diapositive 24</vt:lpstr>
      <vt:lpstr>B- Les TIC : un moyen de commission d’infractions de presse </vt:lpstr>
      <vt:lpstr>CHAPITRE III-  LES DONNEES À CARACTERE PERSONNEL </vt:lpstr>
      <vt:lpstr>Diapositive 27</vt:lpstr>
      <vt:lpstr>Les droits conférés à la personne dont les données sont traitées  </vt:lpstr>
      <vt:lpstr>Les obligations imposées au responsable </vt:lpstr>
      <vt:lpstr>Diapositive 30</vt:lpstr>
      <vt:lpstr>Les régimes juridiques </vt:lpstr>
      <vt:lpstr>Diapositive 32</vt:lpstr>
      <vt:lpstr>Diapositive 33</vt:lpstr>
      <vt:lpstr>Diapositive 34</vt:lpstr>
      <vt:lpstr>Diapositive 35</vt:lpstr>
      <vt:lpstr>Diapositive 36</vt:lpstr>
    </vt:vector>
  </TitlesOfParts>
  <Company>mac solutions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INTRODUCTION AU DROIT DES TICs</dc:title>
  <dc:creator>mac book</dc:creator>
  <cp:lastModifiedBy>Diedhiou</cp:lastModifiedBy>
  <cp:revision>46</cp:revision>
  <dcterms:created xsi:type="dcterms:W3CDTF">2021-03-26T19:01:48Z</dcterms:created>
  <dcterms:modified xsi:type="dcterms:W3CDTF">2021-05-27T22:45:59Z</dcterms:modified>
</cp:coreProperties>
</file>